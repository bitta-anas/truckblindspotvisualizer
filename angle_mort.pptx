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4">
  <p:sldMasterIdLst>
    <p:sldMasterId id="2147483648" r:id="rId4"/>
  </p:sldMasterIdLst>
  <p:notesMasterIdLst>
    <p:notesMasterId r:id="rId23"/>
  </p:notesMasterIdLst>
  <p:handoutMasterIdLst>
    <p:handoutMasterId r:id="rId24"/>
  </p:handoutMasterIdLst>
  <p:sldIdLst>
    <p:sldId id="392" r:id="rId5"/>
    <p:sldId id="463" r:id="rId6"/>
    <p:sldId id="487" r:id="rId7"/>
    <p:sldId id="396" r:id="rId8"/>
    <p:sldId id="397" r:id="rId9"/>
    <p:sldId id="387" r:id="rId10"/>
    <p:sldId id="479" r:id="rId11"/>
    <p:sldId id="489" r:id="rId12"/>
    <p:sldId id="468" r:id="rId13"/>
    <p:sldId id="490" r:id="rId14"/>
    <p:sldId id="464" r:id="rId15"/>
    <p:sldId id="491" r:id="rId16"/>
    <p:sldId id="492" r:id="rId17"/>
    <p:sldId id="481" r:id="rId18"/>
    <p:sldId id="466" r:id="rId19"/>
    <p:sldId id="493" r:id="rId20"/>
    <p:sldId id="484" r:id="rId21"/>
    <p:sldId id="390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issrine TYA" initials="NT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9DEB"/>
    <a:srgbClr val="000000"/>
    <a:srgbClr val="2F5597"/>
    <a:srgbClr val="FFFFFF"/>
    <a:srgbClr val="FCFCFC"/>
    <a:srgbClr val="4472C4"/>
    <a:srgbClr val="9DC3E6"/>
    <a:srgbClr val="FFC000"/>
    <a:srgbClr val="DBDBDB"/>
    <a:srgbClr val="E7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80523" autoAdjust="0"/>
  </p:normalViewPr>
  <p:slideViewPr>
    <p:cSldViewPr snapToGrid="0">
      <p:cViewPr varScale="1">
        <p:scale>
          <a:sx n="63" d="100"/>
          <a:sy n="63" d="100"/>
        </p:scale>
        <p:origin x="686" y="29"/>
      </p:cViewPr>
      <p:guideLst>
        <p:guide orient="horz" pos="2160"/>
        <p:guide pos="3840"/>
      </p:guideLst>
    </p:cSldViewPr>
  </p:slideViewPr>
  <p:notesTextViewPr>
    <p:cViewPr>
      <p:scale>
        <a:sx n="66" d="100"/>
        <a:sy n="66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61161FB-F9B2-47F0-A084-F6AFDF65C6D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ED613C-CA4D-48A9-9F78-E1F460E2643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ADF774-5DF0-4DCE-B366-D3BEB70D68BE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2AE69E-1F81-4013-BC45-8EE533C654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B939E5-F714-4424-9B0E-D832B06817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7D312E-2439-4657-BBBD-39B3A9564606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04200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B99D91-51F9-4A70-A70C-52C2876F4DBA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BD288F-1A69-4A1E-95C9-73BD98A30B0A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79916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BD288F-1A69-4A1E-95C9-73BD98A30B0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27737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BD288F-1A69-4A1E-95C9-73BD98A30B0A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0781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F7DF6-91DF-397C-34CA-E17795F9E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7620E6-37A4-E362-EC4A-A3A18A5E1D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C5CFD5-7E6C-5A36-19CB-D3F45FBCBF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MTBF (</a:t>
            </a:r>
            <a:r>
              <a:rPr lang="fr-FR" sz="1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Mean</a:t>
            </a:r>
            <a:r>
              <a:rPr lang="fr-FR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Time </a:t>
            </a:r>
            <a:r>
              <a:rPr lang="fr-FR" sz="1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Between</a:t>
            </a:r>
            <a:r>
              <a:rPr lang="fr-FR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fr-FR" sz="1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Failures</a:t>
            </a:r>
            <a:r>
              <a:rPr lang="fr-FR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) désigne le temps moyen entre défaillance consécutives, il </a:t>
            </a:r>
            <a:r>
              <a:rPr lang="fr-FR" sz="1200" dirty="0">
                <a:latin typeface="Times New Roman" panose="02020603050405020304" pitchFamily="18" charset="0"/>
                <a:ea typeface="Calibri" panose="020F0502020204030204" pitchFamily="34" charset="0"/>
              </a:rPr>
              <a:t>se calcule par la formule suivante :</a:t>
            </a:r>
            <a:endParaRPr lang="en-US" sz="12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A74EFC-1E52-C3B4-3514-500FED2859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BD288F-1A69-4A1E-95C9-73BD98A30B0A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6342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MTBF (</a:t>
            </a:r>
            <a:r>
              <a:rPr lang="fr-FR" sz="1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Mean</a:t>
            </a:r>
            <a:r>
              <a:rPr lang="fr-FR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Time </a:t>
            </a:r>
            <a:r>
              <a:rPr lang="fr-FR" sz="1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Between</a:t>
            </a:r>
            <a:r>
              <a:rPr lang="fr-FR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fr-FR" sz="1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Failures</a:t>
            </a:r>
            <a:r>
              <a:rPr lang="fr-FR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) désigne le temps moyen entre défaillance consécutives, il </a:t>
            </a:r>
            <a:r>
              <a:rPr lang="fr-FR" sz="1200" dirty="0">
                <a:latin typeface="Times New Roman" panose="02020603050405020304" pitchFamily="18" charset="0"/>
                <a:ea typeface="Calibri" panose="020F0502020204030204" pitchFamily="34" charset="0"/>
              </a:rPr>
              <a:t>se calcule par la formule suivante :</a:t>
            </a:r>
            <a:endParaRPr lang="en-US" sz="12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BD288F-1A69-4A1E-95C9-73BD98A30B0A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7395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78AD1-3838-6661-024D-591149B91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4EF347-B93B-8FF4-D2C5-85CD608ADF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97A872-AC9F-5269-AD72-5F5617A494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MTBF (</a:t>
            </a:r>
            <a:r>
              <a:rPr lang="fr-FR" sz="1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Mean</a:t>
            </a:r>
            <a:r>
              <a:rPr lang="fr-FR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Time </a:t>
            </a:r>
            <a:r>
              <a:rPr lang="fr-FR" sz="1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Between</a:t>
            </a:r>
            <a:r>
              <a:rPr lang="fr-FR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fr-FR" sz="1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Failures</a:t>
            </a:r>
            <a:r>
              <a:rPr lang="fr-FR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) désigne le temps moyen entre défaillance consécutives, il </a:t>
            </a:r>
            <a:r>
              <a:rPr lang="fr-FR" sz="1200" dirty="0">
                <a:latin typeface="Times New Roman" panose="02020603050405020304" pitchFamily="18" charset="0"/>
                <a:ea typeface="Calibri" panose="020F0502020204030204" pitchFamily="34" charset="0"/>
              </a:rPr>
              <a:t>se calcule par la formule suivante :</a:t>
            </a:r>
            <a:endParaRPr lang="en-US" sz="12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0BC237-9C22-29E8-B672-F9E606CCDE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BD288F-1A69-4A1E-95C9-73BD98A30B0A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5518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MTBF (</a:t>
            </a:r>
            <a:r>
              <a:rPr lang="fr-FR" sz="1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Mean</a:t>
            </a:r>
            <a:r>
              <a:rPr lang="fr-FR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Time </a:t>
            </a:r>
            <a:r>
              <a:rPr lang="fr-FR" sz="1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Between</a:t>
            </a:r>
            <a:r>
              <a:rPr lang="fr-FR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fr-FR" sz="1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Failures</a:t>
            </a:r>
            <a:r>
              <a:rPr lang="fr-FR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) désigne le temps moyen entre défaillance consécutives, il </a:t>
            </a:r>
            <a:r>
              <a:rPr lang="fr-FR" sz="1200" dirty="0">
                <a:latin typeface="Times New Roman" panose="02020603050405020304" pitchFamily="18" charset="0"/>
                <a:ea typeface="Calibri" panose="020F0502020204030204" pitchFamily="34" charset="0"/>
              </a:rPr>
              <a:t>se calcule par la formule suivante :</a:t>
            </a:r>
            <a:endParaRPr lang="en-US" sz="12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BD288F-1A69-4A1E-95C9-73BD98A30B0A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7395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D23D0-756B-E781-A92D-9582083E6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2C78E9-73D7-2B2C-0BE4-615858B2F6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925859-2E4D-27FE-384F-62752E8E6D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MTBF (</a:t>
            </a:r>
            <a:r>
              <a:rPr lang="fr-FR" sz="1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Mean</a:t>
            </a:r>
            <a:r>
              <a:rPr lang="fr-FR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Time </a:t>
            </a:r>
            <a:r>
              <a:rPr lang="fr-FR" sz="1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Between</a:t>
            </a:r>
            <a:r>
              <a:rPr lang="fr-FR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fr-FR" sz="1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Failures</a:t>
            </a:r>
            <a:r>
              <a:rPr lang="fr-FR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) désigne le temps moyen entre défaillance consécutives, il </a:t>
            </a:r>
            <a:r>
              <a:rPr lang="fr-FR" sz="1200" dirty="0">
                <a:latin typeface="Times New Roman" panose="02020603050405020304" pitchFamily="18" charset="0"/>
                <a:ea typeface="Calibri" panose="020F0502020204030204" pitchFamily="34" charset="0"/>
              </a:rPr>
              <a:t>se calcule par la formule suivante :</a:t>
            </a:r>
            <a:endParaRPr lang="en-US" sz="12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71CB4D-E6AB-AD7C-CBE0-2F4D725EE9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BD288F-1A69-4A1E-95C9-73BD98A30B0A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9068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01853-B6BE-DE05-4754-0BABCAA9D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F0DD30-B8C5-9901-C570-8CE8830FFC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682057-9ADB-BE0A-4242-C3A9F4DCF4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MTBF (</a:t>
            </a:r>
            <a:r>
              <a:rPr lang="fr-FR" sz="1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Mean</a:t>
            </a:r>
            <a:r>
              <a:rPr lang="fr-FR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Time </a:t>
            </a:r>
            <a:r>
              <a:rPr lang="fr-FR" sz="1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Between</a:t>
            </a:r>
            <a:r>
              <a:rPr lang="fr-FR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fr-FR" sz="1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Failures</a:t>
            </a:r>
            <a:r>
              <a:rPr lang="fr-FR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) désigne le temps moyen entre défaillance consécutives, il </a:t>
            </a:r>
            <a:r>
              <a:rPr lang="fr-FR" sz="1200" dirty="0">
                <a:latin typeface="Times New Roman" panose="02020603050405020304" pitchFamily="18" charset="0"/>
                <a:ea typeface="Calibri" panose="020F0502020204030204" pitchFamily="34" charset="0"/>
              </a:rPr>
              <a:t>se calcule par la formule suivante :</a:t>
            </a:r>
            <a:endParaRPr lang="en-US" sz="12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C8A99D-B114-4644-65B2-67184BB5EE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BD288F-1A69-4A1E-95C9-73BD98A30B0A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1442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327F99-B865-FF12-CE71-CFBF42AD4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590E5C-DAD3-AF14-2261-DF595D1A35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A55899-3C98-C8F2-87A3-A06675C0F2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MTBF (</a:t>
            </a:r>
            <a:r>
              <a:rPr lang="fr-FR" sz="1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Mean</a:t>
            </a:r>
            <a:r>
              <a:rPr lang="fr-FR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Time </a:t>
            </a:r>
            <a:r>
              <a:rPr lang="fr-FR" sz="1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Between</a:t>
            </a:r>
            <a:r>
              <a:rPr lang="fr-FR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fr-FR" sz="1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Failures</a:t>
            </a:r>
            <a:r>
              <a:rPr lang="fr-FR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) désigne le temps moyen entre défaillance consécutives, il </a:t>
            </a:r>
            <a:r>
              <a:rPr lang="fr-FR" sz="1200" dirty="0">
                <a:latin typeface="Times New Roman" panose="02020603050405020304" pitchFamily="18" charset="0"/>
                <a:ea typeface="Calibri" panose="020F0502020204030204" pitchFamily="34" charset="0"/>
              </a:rPr>
              <a:t>se calcule par la formule suivante :</a:t>
            </a:r>
            <a:endParaRPr lang="en-US" sz="12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230FD8-DA22-04C3-A784-2E9DB5BB9B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BD288F-1A69-4A1E-95C9-73BD98A30B0A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5460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MTBF (</a:t>
            </a:r>
            <a:r>
              <a:rPr lang="fr-FR" sz="1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Mean</a:t>
            </a:r>
            <a:r>
              <a:rPr lang="fr-FR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Time </a:t>
            </a:r>
            <a:r>
              <a:rPr lang="fr-FR" sz="1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Between</a:t>
            </a:r>
            <a:r>
              <a:rPr lang="fr-FR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fr-FR" sz="1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Failures</a:t>
            </a:r>
            <a:r>
              <a:rPr lang="fr-FR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) désigne le temps moyen entre défaillance consécutives, il </a:t>
            </a:r>
            <a:r>
              <a:rPr lang="fr-FR" sz="1200" dirty="0">
                <a:latin typeface="Times New Roman" panose="02020603050405020304" pitchFamily="18" charset="0"/>
                <a:ea typeface="Calibri" panose="020F0502020204030204" pitchFamily="34" charset="0"/>
              </a:rPr>
              <a:t>se calcule par la formule suivante :</a:t>
            </a:r>
            <a:endParaRPr lang="en-US" sz="12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BD288F-1A69-4A1E-95C9-73BD98A30B0A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7395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30A42-CEB8-B339-C50E-469A164A4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28A63A-7F82-9A67-E55C-D5AA35559D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581618-0A0D-8679-C6BE-78AFD65789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MTBF (</a:t>
            </a:r>
            <a:r>
              <a:rPr lang="fr-FR" sz="1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Mean</a:t>
            </a:r>
            <a:r>
              <a:rPr lang="fr-FR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Time </a:t>
            </a:r>
            <a:r>
              <a:rPr lang="fr-FR" sz="1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Between</a:t>
            </a:r>
            <a:r>
              <a:rPr lang="fr-FR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fr-FR" sz="1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Failures</a:t>
            </a:r>
            <a:r>
              <a:rPr lang="fr-FR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) désigne le temps moyen entre défaillance consécutives, il </a:t>
            </a:r>
            <a:r>
              <a:rPr lang="fr-FR" sz="1200" dirty="0">
                <a:latin typeface="Times New Roman" panose="02020603050405020304" pitchFamily="18" charset="0"/>
                <a:ea typeface="Calibri" panose="020F0502020204030204" pitchFamily="34" charset="0"/>
              </a:rPr>
              <a:t>se calcule par la formule suivante :</a:t>
            </a:r>
            <a:endParaRPr lang="en-US" sz="12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361B4F-8732-89DF-0F66-16DEA4372D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BD288F-1A69-4A1E-95C9-73BD98A30B0A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0065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AB378-5448-45EF-EA2D-BA1651C4F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A7E48B-D478-5B69-8548-F7BB4F6BA3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BAED78-151F-5531-0A34-E681B7CC8E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MTBF (</a:t>
            </a:r>
            <a:r>
              <a:rPr lang="fr-FR" sz="1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Mean</a:t>
            </a:r>
            <a:r>
              <a:rPr lang="fr-FR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Time </a:t>
            </a:r>
            <a:r>
              <a:rPr lang="fr-FR" sz="1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Between</a:t>
            </a:r>
            <a:r>
              <a:rPr lang="fr-FR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fr-FR" sz="1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Failures</a:t>
            </a:r>
            <a:r>
              <a:rPr lang="fr-FR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) désigne le temps moyen entre défaillance consécutives, il </a:t>
            </a:r>
            <a:r>
              <a:rPr lang="fr-FR" sz="1200" dirty="0">
                <a:latin typeface="Times New Roman" panose="02020603050405020304" pitchFamily="18" charset="0"/>
                <a:ea typeface="Calibri" panose="020F0502020204030204" pitchFamily="34" charset="0"/>
              </a:rPr>
              <a:t>se calcule par la formule suivante :</a:t>
            </a:r>
            <a:endParaRPr lang="en-US" sz="12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6C7F53-31AA-D45B-E43A-E749530F58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BD288F-1A69-4A1E-95C9-73BD98A30B0A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3233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6E8E2-3555-4449-BE5F-C8E9F6DC781E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45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C96C255-31F9-417E-B615-392E8A49D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78203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6E8E2-3555-4449-BE5F-C8E9F6DC781E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71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6E8E2-3555-4449-BE5F-C8E9F6DC781E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257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6E8E2-3555-4449-BE5F-C8E9F6DC781E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351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6E8E2-3555-4449-BE5F-C8E9F6DC781E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0008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6E8E2-3555-4449-BE5F-C8E9F6DC781E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436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6E8E2-3555-4449-BE5F-C8E9F6DC781E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384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6E8E2-3555-4449-BE5F-C8E9F6DC781E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729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6E8E2-3555-4449-BE5F-C8E9F6DC781E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946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6E8E2-3555-4449-BE5F-C8E9F6DC781E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6953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B0E4A-BEE7-4724-9F34-2C0A17BBBE51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2038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86E8E2-3555-4449-BE5F-C8E9F6DC781E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461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4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tif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f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339770" y="2510585"/>
            <a:ext cx="3148619" cy="36933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b="1" dirty="0">
                <a:solidFill>
                  <a:prstClr val="black"/>
                </a:solidFill>
                <a:latin typeface="Century Schoolbook" charset="0"/>
              </a:rPr>
              <a:t>Présentation sous thème</a:t>
            </a:r>
            <a:endParaRPr kumimoji="0" lang="fr-F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pperplate" charset="0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631187" y="1433249"/>
            <a:ext cx="6894162" cy="110799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defRPr/>
            </a:pPr>
            <a:r>
              <a:rPr lang="fr-FR" sz="2400" b="1" cap="all" dirty="0">
                <a:ln w="3175" cmpd="sng">
                  <a:noFill/>
                </a:ln>
              </a:rPr>
              <a:t>UNIVERSITE PRIVE DE FES</a:t>
            </a:r>
          </a:p>
          <a:p>
            <a:pPr algn="ctr">
              <a:defRPr/>
            </a:pPr>
            <a:r>
              <a:rPr lang="fr-FR" sz="2200" cap="all" dirty="0">
                <a:ln w="3175" cmpd="sng">
                  <a:noFill/>
                </a:ln>
              </a:rPr>
              <a:t>cinquième année génie DES SYSTEMES EMBARQUES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Schoolbook" charset="0"/>
              <a:ea typeface="Century Schoolbook" charset="0"/>
              <a:cs typeface="Century Schoolbook" charset="0"/>
            </a:endParaRPr>
          </a:p>
        </p:txBody>
      </p:sp>
      <p:sp>
        <p:nvSpPr>
          <p:cNvPr id="18" name="Organigramme : Terminateur 14"/>
          <p:cNvSpPr/>
          <p:nvPr/>
        </p:nvSpPr>
        <p:spPr>
          <a:xfrm>
            <a:off x="1535132" y="3174354"/>
            <a:ext cx="8777635" cy="75023"/>
          </a:xfrm>
          <a:prstGeom prst="flowChartTerminator">
            <a:avLst/>
          </a:prstGeom>
          <a:solidFill>
            <a:schemeClr val="accent5">
              <a:lumMod val="5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Organigramme : Terminateur 13"/>
          <p:cNvSpPr/>
          <p:nvPr/>
        </p:nvSpPr>
        <p:spPr>
          <a:xfrm>
            <a:off x="504103" y="4024007"/>
            <a:ext cx="11183793" cy="72735"/>
          </a:xfrm>
          <a:prstGeom prst="flowChartTerminator">
            <a:avLst/>
          </a:prstGeom>
          <a:solidFill>
            <a:schemeClr val="accent5">
              <a:lumMod val="5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14009" y="6295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3" name="Picture 34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66000"/>
                    </a14:imgEffect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716" y="2497739"/>
            <a:ext cx="1126300" cy="1346066"/>
          </a:xfrm>
          <a:prstGeom prst="rect">
            <a:avLst/>
          </a:prstGeom>
        </p:spPr>
      </p:pic>
      <p:sp>
        <p:nvSpPr>
          <p:cNvPr id="4" name="ZoneTexte 3"/>
          <p:cNvSpPr txBox="1"/>
          <p:nvPr/>
        </p:nvSpPr>
        <p:spPr>
          <a:xfrm>
            <a:off x="683289" y="3348279"/>
            <a:ext cx="106857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solidFill>
                  <a:srgbClr val="2F559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Système Détection des angles morts de camion</a:t>
            </a:r>
          </a:p>
        </p:txBody>
      </p:sp>
      <p:sp>
        <p:nvSpPr>
          <p:cNvPr id="21" name="Organigramme : Terminateur 14"/>
          <p:cNvSpPr/>
          <p:nvPr/>
        </p:nvSpPr>
        <p:spPr>
          <a:xfrm flipV="1">
            <a:off x="2083015" y="2299529"/>
            <a:ext cx="7886253" cy="52428"/>
          </a:xfrm>
          <a:prstGeom prst="flowChartTerminator">
            <a:avLst/>
          </a:prstGeom>
          <a:solidFill>
            <a:schemeClr val="accent5">
              <a:lumMod val="5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ZoneTexte 5">
            <a:extLst>
              <a:ext uri="{FF2B5EF4-FFF2-40B4-BE49-F238E27FC236}">
                <a16:creationId xmlns:a16="http://schemas.microsoft.com/office/drawing/2014/main" id="{92202E0B-94E8-4460-AD79-845C630C5E7E}"/>
              </a:ext>
            </a:extLst>
          </p:cNvPr>
          <p:cNvSpPr txBox="1"/>
          <p:nvPr/>
        </p:nvSpPr>
        <p:spPr>
          <a:xfrm>
            <a:off x="1863482" y="4469946"/>
            <a:ext cx="36819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 dirty="0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Palatino Linotype" pitchFamily="18" charset="0"/>
                <a:ea typeface="+mn-ea"/>
                <a:cs typeface="+mn-cs"/>
              </a:rPr>
              <a:t>Réalisé par </a:t>
            </a:r>
            <a:r>
              <a:rPr kumimoji="0" lang="fr-FR" sz="1800" b="0" i="0" u="none" strike="noStrike" kern="1200" cap="none" spc="0" normalizeH="0" baseline="0" noProof="0" dirty="0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rgbClr val="44546A">
                    <a:lumMod val="50000"/>
                  </a:srgb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Palatino Linotype" pitchFamily="18" charset="0"/>
                <a:ea typeface="+mn-ea"/>
                <a:cs typeface="+mn-cs"/>
              </a:rPr>
              <a:t>: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rgbClr val="44546A">
                    <a:lumMod val="50000"/>
                  </a:srgb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Palatino Linotype" pitchFamily="18" charset="0"/>
              </a:rPr>
              <a:t>    </a:t>
            </a:r>
            <a:r>
              <a:rPr lang="fr-FR" b="1" dirty="0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rgbClr val="44546A">
                    <a:lumMod val="50000"/>
                  </a:srgb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Palatino Linotype" pitchFamily="18" charset="0"/>
              </a:rPr>
              <a:t>EL-BOUZAYDY MOHAMED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b="1" dirty="0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rgbClr val="44546A">
                    <a:lumMod val="50000"/>
                  </a:srgb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Palatino Linotype" pitchFamily="18" charset="0"/>
              </a:rPr>
              <a:t>    BITTA ANAS</a:t>
            </a:r>
          </a:p>
        </p:txBody>
      </p:sp>
      <p:sp>
        <p:nvSpPr>
          <p:cNvPr id="36" name="ZoneTexte 4">
            <a:extLst>
              <a:ext uri="{FF2B5EF4-FFF2-40B4-BE49-F238E27FC236}">
                <a16:creationId xmlns:a16="http://schemas.microsoft.com/office/drawing/2014/main" id="{7D020A39-3010-47C9-9E8C-ECC0A8E5091A}"/>
              </a:ext>
            </a:extLst>
          </p:cNvPr>
          <p:cNvSpPr txBox="1"/>
          <p:nvPr/>
        </p:nvSpPr>
        <p:spPr>
          <a:xfrm>
            <a:off x="7746535" y="4510522"/>
            <a:ext cx="44454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 dirty="0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rgbClr val="44546A">
                    <a:lumMod val="50000"/>
                  </a:srgb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Palatino Linotype" pitchFamily="18" charset="0"/>
                <a:ea typeface="+mn-ea"/>
                <a:cs typeface="+mn-cs"/>
              </a:rPr>
              <a:t>Encadré par </a:t>
            </a:r>
            <a:r>
              <a:rPr kumimoji="0" lang="fr-FR" sz="1800" b="0" i="0" u="none" strike="noStrike" kern="1200" cap="none" spc="0" normalizeH="0" baseline="0" noProof="0" dirty="0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rgbClr val="44546A">
                    <a:lumMod val="50000"/>
                  </a:srgb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Palatino Linotype" pitchFamily="18" charset="0"/>
                <a:ea typeface="+mn-ea"/>
                <a:cs typeface="+mn-cs"/>
              </a:rPr>
              <a:t>:</a:t>
            </a:r>
          </a:p>
          <a:p>
            <a:r>
              <a:rPr lang="en-US" b="1" dirty="0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rgbClr val="44546A">
                    <a:lumMod val="50000"/>
                  </a:srgb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Palatino Linotype" pitchFamily="18" charset="0"/>
              </a:rPr>
              <a:t>Mme. IMANE HALKHAMES      </a:t>
            </a: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             </a:t>
            </a: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457FB9BC-2785-4983-8409-12B5F7BE602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0140" y="4269429"/>
            <a:ext cx="516395" cy="628469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DC617678-5259-4196-B12B-9C7FCC92E12E}"/>
              </a:ext>
            </a:extLst>
          </p:cNvPr>
          <p:cNvSpPr txBox="1"/>
          <p:nvPr/>
        </p:nvSpPr>
        <p:spPr>
          <a:xfrm>
            <a:off x="2875033" y="6216966"/>
            <a:ext cx="60978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66664" lvl="0" indent="0" algn="ctr" defTabSz="914400" rtl="0" eaLnBrk="1" fontAlgn="auto" latinLnBrk="0" hangingPunct="1">
              <a:lnSpc>
                <a:spcPct val="100000"/>
              </a:lnSpc>
              <a:spcBef>
                <a:spcPts val="417"/>
              </a:spcBef>
              <a:spcAft>
                <a:spcPts val="0"/>
              </a:spcAft>
              <a:buClr>
                <a:srgbClr val="FFC000"/>
              </a:buClr>
              <a:buSzPct val="68000"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 dirty="0">
                <a:ln w="0"/>
                <a:solidFill>
                  <a:srgbClr val="4472C4">
                    <a:lumMod val="50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Année universitaire : 2025-2026</a:t>
            </a:r>
          </a:p>
        </p:txBody>
      </p:sp>
      <p:pic>
        <p:nvPicPr>
          <p:cNvPr id="25" name="Picture 6" descr="https://shubhtech.sgp1.digitaloceanspaces.com/edrp/landing/icons/04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4409" y="4324717"/>
            <a:ext cx="579199" cy="579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 8" descr="Une image contenant capture d’écran, texte, Police, Graphique&#10;&#10;Le contenu généré par l’IA peut être incorrect.">
            <a:extLst>
              <a:ext uri="{FF2B5EF4-FFF2-40B4-BE49-F238E27FC236}">
                <a16:creationId xmlns:a16="http://schemas.microsoft.com/office/drawing/2014/main" id="{FBF22914-0EB0-C9CC-9030-3D9A77D2C82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8473" y="-37210"/>
            <a:ext cx="6410955" cy="1470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952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3"/>
          <p:cNvGrpSpPr/>
          <p:nvPr/>
        </p:nvGrpSpPr>
        <p:grpSpPr>
          <a:xfrm>
            <a:off x="-693829" y="1639570"/>
            <a:ext cx="1486755" cy="4142640"/>
            <a:chOff x="-629888" y="836070"/>
            <a:chExt cx="1486755" cy="4142640"/>
          </a:xfrm>
        </p:grpSpPr>
        <p:sp>
          <p:nvSpPr>
            <p:cNvPr id="5" name="Triangle isocèle 4"/>
            <p:cNvSpPr/>
            <p:nvPr/>
          </p:nvSpPr>
          <p:spPr>
            <a:xfrm rot="2109148">
              <a:off x="430492" y="836070"/>
              <a:ext cx="426375" cy="2260800"/>
            </a:xfrm>
            <a:prstGeom prst="triangle">
              <a:avLst/>
            </a:prstGeom>
            <a:solidFill>
              <a:srgbClr val="203864"/>
            </a:solidFill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Triangle isocèle 5"/>
            <p:cNvSpPr/>
            <p:nvPr/>
          </p:nvSpPr>
          <p:spPr>
            <a:xfrm rot="12520020">
              <a:off x="-629888" y="2809058"/>
              <a:ext cx="368489" cy="2169652"/>
            </a:xfrm>
            <a:prstGeom prst="triangle">
              <a:avLst/>
            </a:prstGeom>
            <a:noFill/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Ellipse 6"/>
            <p:cNvSpPr/>
            <p:nvPr/>
          </p:nvSpPr>
          <p:spPr>
            <a:xfrm>
              <a:off x="-445643" y="2552438"/>
              <a:ext cx="788498" cy="71895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Arc 7"/>
          <p:cNvSpPr/>
          <p:nvPr/>
        </p:nvSpPr>
        <p:spPr>
          <a:xfrm>
            <a:off x="-2227157" y="1202859"/>
            <a:ext cx="5012141" cy="4748737"/>
          </a:xfrm>
          <a:prstGeom prst="arc">
            <a:avLst>
              <a:gd name="adj1" fmla="val 15762599"/>
              <a:gd name="adj2" fmla="val 5850300"/>
            </a:avLst>
          </a:prstGeom>
          <a:ln w="762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Ellipse 8"/>
          <p:cNvSpPr/>
          <p:nvPr/>
        </p:nvSpPr>
        <p:spPr>
          <a:xfrm>
            <a:off x="1190566" y="1202859"/>
            <a:ext cx="478321" cy="477672"/>
          </a:xfrm>
          <a:prstGeom prst="ellipse">
            <a:avLst/>
          </a:prstGeom>
          <a:solidFill>
            <a:srgbClr val="20386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</a:p>
        </p:txBody>
      </p:sp>
      <p:sp>
        <p:nvSpPr>
          <p:cNvPr id="10" name="Ellipse 9"/>
          <p:cNvSpPr/>
          <p:nvPr/>
        </p:nvSpPr>
        <p:spPr>
          <a:xfrm>
            <a:off x="2017955" y="1901896"/>
            <a:ext cx="478321" cy="477672"/>
          </a:xfrm>
          <a:prstGeom prst="ellipse">
            <a:avLst/>
          </a:prstGeom>
          <a:solidFill>
            <a:srgbClr val="20386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</a:p>
        </p:txBody>
      </p:sp>
      <p:sp>
        <p:nvSpPr>
          <p:cNvPr id="11" name="Ellipse 10"/>
          <p:cNvSpPr/>
          <p:nvPr/>
        </p:nvSpPr>
        <p:spPr>
          <a:xfrm>
            <a:off x="2496276" y="2814297"/>
            <a:ext cx="478321" cy="477672"/>
          </a:xfrm>
          <a:prstGeom prst="ellipse">
            <a:avLst/>
          </a:prstGeom>
          <a:solidFill>
            <a:srgbClr val="20386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</a:p>
        </p:txBody>
      </p:sp>
      <p:sp>
        <p:nvSpPr>
          <p:cNvPr id="12" name="Ellipse 11"/>
          <p:cNvSpPr/>
          <p:nvPr/>
        </p:nvSpPr>
        <p:spPr>
          <a:xfrm>
            <a:off x="2506436" y="3794566"/>
            <a:ext cx="478321" cy="477672"/>
          </a:xfrm>
          <a:prstGeom prst="ellipse">
            <a:avLst/>
          </a:prstGeom>
          <a:solidFill>
            <a:srgbClr val="20386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</a:t>
            </a:r>
          </a:p>
        </p:txBody>
      </p:sp>
      <p:sp>
        <p:nvSpPr>
          <p:cNvPr id="13" name="Ellipse 12"/>
          <p:cNvSpPr/>
          <p:nvPr/>
        </p:nvSpPr>
        <p:spPr>
          <a:xfrm>
            <a:off x="2038275" y="4745192"/>
            <a:ext cx="478321" cy="477672"/>
          </a:xfrm>
          <a:prstGeom prst="ellipse">
            <a:avLst/>
          </a:prstGeom>
          <a:solidFill>
            <a:srgbClr val="20386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5</a:t>
            </a:r>
          </a:p>
        </p:txBody>
      </p:sp>
      <p:sp>
        <p:nvSpPr>
          <p:cNvPr id="14" name="Ellipse 13"/>
          <p:cNvSpPr/>
          <p:nvPr/>
        </p:nvSpPr>
        <p:spPr>
          <a:xfrm>
            <a:off x="1190566" y="5404817"/>
            <a:ext cx="478321" cy="477672"/>
          </a:xfrm>
          <a:prstGeom prst="ellipse">
            <a:avLst/>
          </a:prstGeom>
          <a:solidFill>
            <a:srgbClr val="20386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6</a:t>
            </a:r>
          </a:p>
        </p:txBody>
      </p:sp>
      <p:sp>
        <p:nvSpPr>
          <p:cNvPr id="15" name="ZoneTexte 14"/>
          <p:cNvSpPr txBox="1"/>
          <p:nvPr/>
        </p:nvSpPr>
        <p:spPr>
          <a:xfrm>
            <a:off x="3201076" y="2894273"/>
            <a:ext cx="85213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r-FR" sz="24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  <a:cs typeface="Times New Roman" panose="02020603050405020304" pitchFamily="18" charset="0"/>
              </a:rPr>
              <a:t>Architecture globale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1975463" y="1150615"/>
            <a:ext cx="7777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24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  <a:cs typeface="Times New Roman" panose="02020603050405020304" pitchFamily="18" charset="0"/>
              </a:rPr>
              <a:t>Contexte et Problème</a:t>
            </a:r>
            <a:endParaRPr lang="en-US" sz="2400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ramond" panose="02020404030301010803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ZoneTexte 16"/>
          <p:cNvSpPr txBox="1"/>
          <p:nvPr/>
        </p:nvSpPr>
        <p:spPr>
          <a:xfrm>
            <a:off x="2745596" y="1917903"/>
            <a:ext cx="6672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r-FR" sz="24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  <a:cs typeface="Times New Roman" panose="02020603050405020304" pitchFamily="18" charset="0"/>
              </a:rPr>
              <a:t>Cahier des charges</a:t>
            </a:r>
          </a:p>
        </p:txBody>
      </p:sp>
      <p:sp>
        <p:nvSpPr>
          <p:cNvPr id="19" name="ZoneTexte 18"/>
          <p:cNvSpPr txBox="1"/>
          <p:nvPr/>
        </p:nvSpPr>
        <p:spPr>
          <a:xfrm>
            <a:off x="2725010" y="4673715"/>
            <a:ext cx="96506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  <a:cs typeface="Times New Roman" panose="02020603050405020304" pitchFamily="18" charset="0"/>
              </a:rPr>
              <a:t>Test et validation</a:t>
            </a:r>
          </a:p>
        </p:txBody>
      </p:sp>
      <p:sp>
        <p:nvSpPr>
          <p:cNvPr id="20" name="ZoneTexte 19"/>
          <p:cNvSpPr txBox="1"/>
          <p:nvPr/>
        </p:nvSpPr>
        <p:spPr>
          <a:xfrm>
            <a:off x="2074030" y="5546172"/>
            <a:ext cx="7017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040"/>
              </a:spcBef>
              <a:spcAft>
                <a:spcPts val="800"/>
              </a:spcAft>
              <a:tabLst>
                <a:tab pos="896620" algn="l"/>
                <a:tab pos="897255" algn="l"/>
              </a:tabLst>
              <a:defRPr/>
            </a:pPr>
            <a:r>
              <a:rPr lang="fr-FR" sz="24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  <a:cs typeface="Times New Roman" panose="02020603050405020304" pitchFamily="18" charset="0"/>
              </a:rPr>
              <a:t>Conclusion </a:t>
            </a:r>
          </a:p>
        </p:txBody>
      </p:sp>
      <p:sp>
        <p:nvSpPr>
          <p:cNvPr id="21" name="Titre 6">
            <a:extLst>
              <a:ext uri="{FF2B5EF4-FFF2-40B4-BE49-F238E27FC236}">
                <a16:creationId xmlns:a16="http://schemas.microsoft.com/office/drawing/2014/main" id="{7F4BC443-6E86-4E2B-B52F-82172C46B689}"/>
              </a:ext>
            </a:extLst>
          </p:cNvPr>
          <p:cNvSpPr txBox="1">
            <a:spLocks/>
          </p:cNvSpPr>
          <p:nvPr/>
        </p:nvSpPr>
        <p:spPr bwMode="auto">
          <a:xfrm>
            <a:off x="2074030" y="293945"/>
            <a:ext cx="1202570" cy="610929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ts val="2600"/>
              </a:lnSpc>
              <a:spcBef>
                <a:spcPct val="0"/>
              </a:spcBef>
              <a:buNone/>
              <a:defRPr sz="2400" b="1" kern="1200" cap="all" baseline="0">
                <a:solidFill>
                  <a:srgbClr val="61A32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ts val="26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600" b="1" i="0" u="none" strike="noStrike" kern="1200" cap="all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ea typeface="+mj-ea"/>
                <a:cs typeface="+mj-cs"/>
              </a:rPr>
              <a:t>Plan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23066" y="3824905"/>
            <a:ext cx="229101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  <a:cs typeface="Times New Roman" panose="02020603050405020304" pitchFamily="18" charset="0"/>
              </a:rPr>
              <a:t>Implémentation</a:t>
            </a:r>
          </a:p>
        </p:txBody>
      </p:sp>
    </p:spTree>
    <p:extLst>
      <p:ext uri="{BB962C8B-B14F-4D97-AF65-F5344CB8AC3E}">
        <p14:creationId xmlns:p14="http://schemas.microsoft.com/office/powerpoint/2010/main" val="526859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25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750"/>
                            </p:stCondLst>
                            <p:childTnLst>
                              <p:par>
                                <p:cTn id="23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080000">
                                      <p:cBhvr>
                                        <p:cTn id="24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75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250"/>
                            </p:stCondLst>
                            <p:childTnLst>
                              <p:par>
                                <p:cTn id="36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380000">
                                      <p:cBhvr>
                                        <p:cTn id="37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000"/>
                            </p:stCondLst>
                            <p:childTnLst>
                              <p:par>
                                <p:cTn id="3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25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750"/>
                            </p:stCondLst>
                            <p:childTnLst>
                              <p:par>
                                <p:cTn id="49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560000">
                                      <p:cBhvr>
                                        <p:cTn id="50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500"/>
                            </p:stCondLst>
                            <p:childTnLst>
                              <p:par>
                                <p:cTn id="5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6000"/>
                            </p:stCondLst>
                            <p:childTnLst>
                              <p:par>
                                <p:cTn id="61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380000">
                                      <p:cBhvr>
                                        <p:cTn id="62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6750"/>
                            </p:stCondLst>
                            <p:childTnLst>
                              <p:par>
                                <p:cTn id="6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7000"/>
                            </p:stCondLst>
                            <p:childTnLst>
                              <p:par>
                                <p:cTn id="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7500"/>
                            </p:stCondLst>
                            <p:childTnLst>
                              <p:par>
                                <p:cTn id="74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560000">
                                      <p:cBhvr>
                                        <p:cTn id="75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8250"/>
                            </p:stCondLst>
                            <p:childTnLst>
                              <p:par>
                                <p:cTn id="7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8500"/>
                            </p:stCondLst>
                            <p:childTnLst>
                              <p:par>
                                <p:cTn id="8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/>
      <p:bldP spid="16" grpId="0"/>
      <p:bldP spid="17" grpId="0"/>
      <p:bldP spid="19" grpId="0"/>
      <p:bldP spid="20" grpId="0"/>
      <p:bldP spid="2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D77AC-BF2F-438F-0A5E-0A66B8748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Une image contenant texte, capture d’écran, diagramme, ligne&#10;&#10;Le contenu généré par l’IA peut être incorrect.">
            <a:extLst>
              <a:ext uri="{FF2B5EF4-FFF2-40B4-BE49-F238E27FC236}">
                <a16:creationId xmlns:a16="http://schemas.microsoft.com/office/drawing/2014/main" id="{AA56238A-61A0-BAD0-ACA2-F92A01236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1206" y="1328444"/>
            <a:ext cx="5591955" cy="4201111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400C03A2-7209-2134-0D41-E461D51F0B03}"/>
              </a:ext>
            </a:extLst>
          </p:cNvPr>
          <p:cNvSpPr txBox="1"/>
          <p:nvPr/>
        </p:nvSpPr>
        <p:spPr>
          <a:xfrm>
            <a:off x="629960" y="2274837"/>
            <a:ext cx="471947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dirty="0"/>
              <a:t>Bonjour, je vous présente un système d'alerte ADAS (Advanced Driver Assistance System) permettant de détecter les obstacles en angle mort pour les véhicules de transport et les poids lourds.</a:t>
            </a:r>
          </a:p>
          <a:p>
            <a:pPr algn="just"/>
            <a:r>
              <a:rPr lang="fr-FR" dirty="0"/>
              <a:t>Notre solution combine capteurs intelligents et interface 3D temps réel pour améliorer la sécurité routière et sauver des vies.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5699477-8F14-03DB-F6C5-AAA53C6C4985}"/>
              </a:ext>
            </a:extLst>
          </p:cNvPr>
          <p:cNvSpPr/>
          <p:nvPr/>
        </p:nvSpPr>
        <p:spPr>
          <a:xfrm>
            <a:off x="-16932" y="0"/>
            <a:ext cx="12208932" cy="5832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ramond" charset="0"/>
                <a:ea typeface="Garamond" charset="0"/>
                <a:cs typeface="Garamond" charset="0"/>
              </a:rPr>
              <a:t>                           </a:t>
            </a:r>
          </a:p>
          <a:p>
            <a:pPr algn="ctr"/>
            <a:r>
              <a:rPr kumimoji="0" lang="fr-FR" sz="2400" b="1" i="0" u="none" strike="noStrike" kern="1200" cap="none" spc="0" normalizeH="0" baseline="0" noProof="0" dirty="0">
                <a:ln w="1905"/>
                <a:solidFill>
                  <a:schemeClr val="tx1">
                    <a:lumMod val="95000"/>
                    <a:lumOff val="5000"/>
                  </a:schemeClr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uLnTx/>
                <a:uFillTx/>
                <a:latin typeface="Garamond" charset="0"/>
                <a:cs typeface="Times New Roman" panose="02020603050405020304" pitchFamily="18" charset="0"/>
              </a:rPr>
              <a:t>Introduction </a:t>
            </a:r>
            <a:endParaRPr lang="en-US" sz="2300" b="1" dirty="0">
              <a:solidFill>
                <a:schemeClr val="tx1">
                  <a:lumMod val="95000"/>
                  <a:lumOff val="5000"/>
                </a:schemeClr>
              </a:solidFill>
              <a:latin typeface="Garamond" charset="0"/>
            </a:endParaRPr>
          </a:p>
          <a:p>
            <a:pPr algn="ctr"/>
            <a:endParaRPr lang="fr-FR" sz="2400" b="1" dirty="0">
              <a:solidFill>
                <a:schemeClr val="tx1">
                  <a:lumMod val="95000"/>
                  <a:lumOff val="5000"/>
                </a:schemeClr>
              </a:solidFill>
              <a:latin typeface="Garamond" charset="0"/>
              <a:ea typeface="Garamond" charset="0"/>
              <a:cs typeface="Garamond" charset="0"/>
            </a:endParaRPr>
          </a:p>
        </p:txBody>
      </p:sp>
      <p:sp>
        <p:nvSpPr>
          <p:cNvPr id="23" name="Flowchart: Off-page Connector 30">
            <a:extLst>
              <a:ext uri="{FF2B5EF4-FFF2-40B4-BE49-F238E27FC236}">
                <a16:creationId xmlns:a16="http://schemas.microsoft.com/office/drawing/2014/main" id="{49C49760-8E56-6C37-5C7E-A4FB260CF76E}"/>
              </a:ext>
            </a:extLst>
          </p:cNvPr>
          <p:cNvSpPr/>
          <p:nvPr/>
        </p:nvSpPr>
        <p:spPr>
          <a:xfrm>
            <a:off x="11744324" y="11654"/>
            <a:ext cx="365143" cy="537721"/>
          </a:xfrm>
          <a:prstGeom prst="flowChartOffpageConnector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>
                <a:solidFill>
                  <a:schemeClr val="bg1"/>
                </a:solidFill>
                <a:latin typeface="Source Sans Pro" pitchFamily="34" charset="0"/>
              </a:rPr>
              <a:t>1</a:t>
            </a:r>
            <a:endParaRPr lang="en-US" sz="1600" b="1" dirty="0">
              <a:solidFill>
                <a:schemeClr val="bg1"/>
              </a:solidFill>
              <a:latin typeface="Source Sans Pro" pitchFamily="34" charset="0"/>
            </a:endParaRPr>
          </a:p>
        </p:txBody>
      </p:sp>
      <p:sp>
        <p:nvSpPr>
          <p:cNvPr id="24" name="Oval 8">
            <a:extLst>
              <a:ext uri="{FF2B5EF4-FFF2-40B4-BE49-F238E27FC236}">
                <a16:creationId xmlns:a16="http://schemas.microsoft.com/office/drawing/2014/main" id="{54812C28-1444-F058-0267-EBD6119A42D7}"/>
              </a:ext>
            </a:extLst>
          </p:cNvPr>
          <p:cNvSpPr/>
          <p:nvPr/>
        </p:nvSpPr>
        <p:spPr>
          <a:xfrm>
            <a:off x="126514" y="91529"/>
            <a:ext cx="360000" cy="36000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  <a:latin typeface="Garamond" pitchFamily="18" charset="0"/>
              </a:rPr>
              <a:t>1</a:t>
            </a:r>
            <a:endParaRPr lang="en-US" b="1" dirty="0">
              <a:solidFill>
                <a:schemeClr val="bg1"/>
              </a:solidFill>
              <a:latin typeface="Garamond" pitchFamily="18" charset="0"/>
            </a:endParaRPr>
          </a:p>
        </p:txBody>
      </p:sp>
      <p:sp>
        <p:nvSpPr>
          <p:cNvPr id="25" name="Oval 10">
            <a:extLst>
              <a:ext uri="{FF2B5EF4-FFF2-40B4-BE49-F238E27FC236}">
                <a16:creationId xmlns:a16="http://schemas.microsoft.com/office/drawing/2014/main" id="{BEE48860-124F-8DD7-A585-5152F95D270F}"/>
              </a:ext>
            </a:extLst>
          </p:cNvPr>
          <p:cNvSpPr/>
          <p:nvPr/>
        </p:nvSpPr>
        <p:spPr>
          <a:xfrm>
            <a:off x="629960" y="91529"/>
            <a:ext cx="360000" cy="36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00B0F0"/>
                </a:solidFill>
                <a:latin typeface="Garamond" pitchFamily="18" charset="0"/>
              </a:rPr>
              <a:t>2</a:t>
            </a:r>
            <a:endParaRPr lang="en-US" b="1" dirty="0">
              <a:solidFill>
                <a:srgbClr val="00B0F0"/>
              </a:solidFill>
              <a:latin typeface="Garamond" pitchFamily="18" charset="0"/>
            </a:endParaRPr>
          </a:p>
        </p:txBody>
      </p:sp>
      <p:sp>
        <p:nvSpPr>
          <p:cNvPr id="26" name="Oval 11">
            <a:extLst>
              <a:ext uri="{FF2B5EF4-FFF2-40B4-BE49-F238E27FC236}">
                <a16:creationId xmlns:a16="http://schemas.microsoft.com/office/drawing/2014/main" id="{3FCF3B75-7FE6-D06C-3848-0B37752912E7}"/>
              </a:ext>
            </a:extLst>
          </p:cNvPr>
          <p:cNvSpPr/>
          <p:nvPr/>
        </p:nvSpPr>
        <p:spPr>
          <a:xfrm>
            <a:off x="1133406" y="91529"/>
            <a:ext cx="360000" cy="36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00B0F0"/>
                </a:solidFill>
                <a:latin typeface="Garamond" pitchFamily="18" charset="0"/>
              </a:rPr>
              <a:t>3</a:t>
            </a:r>
            <a:endParaRPr lang="en-US" b="1" dirty="0">
              <a:solidFill>
                <a:srgbClr val="00B0F0"/>
              </a:solidFill>
              <a:latin typeface="Garamond" pitchFamily="18" charset="0"/>
            </a:endParaRPr>
          </a:p>
        </p:txBody>
      </p:sp>
      <p:sp>
        <p:nvSpPr>
          <p:cNvPr id="27" name="Oval 12">
            <a:extLst>
              <a:ext uri="{FF2B5EF4-FFF2-40B4-BE49-F238E27FC236}">
                <a16:creationId xmlns:a16="http://schemas.microsoft.com/office/drawing/2014/main" id="{3A075822-2B95-CE7D-865C-CBB3CECD0021}"/>
              </a:ext>
            </a:extLst>
          </p:cNvPr>
          <p:cNvSpPr/>
          <p:nvPr/>
        </p:nvSpPr>
        <p:spPr>
          <a:xfrm>
            <a:off x="1636852" y="91529"/>
            <a:ext cx="360000" cy="360000"/>
          </a:xfrm>
          <a:prstGeom prst="ellipse">
            <a:avLst/>
          </a:prstGeom>
          <a:solidFill>
            <a:srgbClr val="FCFC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00B0F0"/>
                </a:solidFill>
                <a:latin typeface="Garamond" pitchFamily="18" charset="0"/>
              </a:rPr>
              <a:t>4</a:t>
            </a:r>
            <a:endParaRPr lang="en-US" b="1" dirty="0">
              <a:solidFill>
                <a:schemeClr val="bg1"/>
              </a:solidFill>
              <a:latin typeface="Garamond" pitchFamily="18" charset="0"/>
            </a:endParaRPr>
          </a:p>
        </p:txBody>
      </p:sp>
      <p:sp>
        <p:nvSpPr>
          <p:cNvPr id="28" name="Oval 17">
            <a:extLst>
              <a:ext uri="{FF2B5EF4-FFF2-40B4-BE49-F238E27FC236}">
                <a16:creationId xmlns:a16="http://schemas.microsoft.com/office/drawing/2014/main" id="{BC3EA353-1575-A3C1-75E5-B271FC6B7C5B}"/>
              </a:ext>
            </a:extLst>
          </p:cNvPr>
          <p:cNvSpPr/>
          <p:nvPr/>
        </p:nvSpPr>
        <p:spPr>
          <a:xfrm>
            <a:off x="2140298" y="91529"/>
            <a:ext cx="360000" cy="36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00B0F0"/>
                </a:solidFill>
                <a:latin typeface="Garamond" pitchFamily="18" charset="0"/>
              </a:rPr>
              <a:t>5</a:t>
            </a:r>
            <a:endParaRPr lang="en-US" b="1" dirty="0">
              <a:solidFill>
                <a:srgbClr val="00B0F0"/>
              </a:solidFill>
              <a:latin typeface="Garamond" pitchFamily="18" charset="0"/>
            </a:endParaRPr>
          </a:p>
        </p:txBody>
      </p:sp>
      <p:cxnSp>
        <p:nvCxnSpPr>
          <p:cNvPr id="29" name="Connecteur droit 86">
            <a:extLst>
              <a:ext uri="{FF2B5EF4-FFF2-40B4-BE49-F238E27FC236}">
                <a16:creationId xmlns:a16="http://schemas.microsoft.com/office/drawing/2014/main" id="{F265B5C1-0E4F-FD61-C4B4-B69BF9DE12A0}"/>
              </a:ext>
            </a:extLst>
          </p:cNvPr>
          <p:cNvCxnSpPr/>
          <p:nvPr/>
        </p:nvCxnSpPr>
        <p:spPr>
          <a:xfrm>
            <a:off x="3154454" y="59960"/>
            <a:ext cx="0" cy="440695"/>
          </a:xfrm>
          <a:prstGeom prst="line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0" name="Oval 17">
            <a:extLst>
              <a:ext uri="{FF2B5EF4-FFF2-40B4-BE49-F238E27FC236}">
                <a16:creationId xmlns:a16="http://schemas.microsoft.com/office/drawing/2014/main" id="{C72C8EEC-3B30-7E55-A9E9-6B16989118B6}"/>
              </a:ext>
            </a:extLst>
          </p:cNvPr>
          <p:cNvSpPr/>
          <p:nvPr/>
        </p:nvSpPr>
        <p:spPr>
          <a:xfrm>
            <a:off x="2634936" y="100514"/>
            <a:ext cx="360000" cy="36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00B0F0"/>
                </a:solidFill>
                <a:latin typeface="Garamond" pitchFamily="18" charset="0"/>
              </a:rPr>
              <a:t>6</a:t>
            </a:r>
            <a:endParaRPr lang="en-US" b="1" dirty="0">
              <a:solidFill>
                <a:srgbClr val="00B0F0"/>
              </a:solidFill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8406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 19">
            <a:extLst>
              <a:ext uri="{FF2B5EF4-FFF2-40B4-BE49-F238E27FC236}">
                <a16:creationId xmlns:a16="http://schemas.microsoft.com/office/drawing/2014/main" id="{F9B342B6-81B7-4AD5-8FBA-12CD27BF69F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6326455" y="1322599"/>
            <a:ext cx="6125294" cy="504117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73371"/>
            <a:ext cx="12208932" cy="40127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Garamond" charset="0"/>
                <a:ea typeface="Garamond" charset="0"/>
                <a:cs typeface="Garamond" charset="0"/>
              </a:rPr>
              <a:t>Projet de Fin d’Etudes </a:t>
            </a:r>
          </a:p>
        </p:txBody>
      </p:sp>
      <p:sp>
        <p:nvSpPr>
          <p:cNvPr id="7" name="Rectangle 6"/>
          <p:cNvSpPr/>
          <p:nvPr/>
        </p:nvSpPr>
        <p:spPr>
          <a:xfrm>
            <a:off x="-16932" y="0"/>
            <a:ext cx="12208932" cy="5832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ramond" charset="0"/>
                <a:ea typeface="Garamond" charset="0"/>
                <a:cs typeface="Garamond" charset="0"/>
              </a:rPr>
              <a:t>                           </a:t>
            </a:r>
          </a:p>
          <a:p>
            <a:pPr lvl="0" algn="ctr">
              <a:defRPr/>
            </a:pPr>
            <a:r>
              <a:rPr lang="fr-FR" sz="2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  <a:cs typeface="Times New Roman" panose="02020603050405020304" pitchFamily="18" charset="0"/>
              </a:rPr>
              <a:t>Contexte et Problème</a:t>
            </a:r>
            <a:endParaRPr lang="en-US" sz="2000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ramond" panose="02020404030301010803" pitchFamily="18" charset="0"/>
              <a:cs typeface="Times New Roman" panose="02020603050405020304" pitchFamily="18" charset="0"/>
            </a:endParaRPr>
          </a:p>
          <a:p>
            <a:pPr algn="ctr"/>
            <a:endParaRPr lang="fr-FR" sz="2400" b="1" dirty="0">
              <a:solidFill>
                <a:schemeClr val="tx1">
                  <a:lumMod val="95000"/>
                  <a:lumOff val="5000"/>
                </a:schemeClr>
              </a:solidFill>
              <a:latin typeface="Garamond" charset="0"/>
              <a:ea typeface="Garamond" charset="0"/>
              <a:cs typeface="Garamond" charset="0"/>
            </a:endParaRPr>
          </a:p>
        </p:txBody>
      </p:sp>
      <p:sp>
        <p:nvSpPr>
          <p:cNvPr id="8" name="Flowchart: Off-page Connector 30"/>
          <p:cNvSpPr/>
          <p:nvPr/>
        </p:nvSpPr>
        <p:spPr>
          <a:xfrm>
            <a:off x="11744324" y="11654"/>
            <a:ext cx="365143" cy="537721"/>
          </a:xfrm>
          <a:prstGeom prst="flowChartOffpageConnector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>
                <a:solidFill>
                  <a:schemeClr val="bg1"/>
                </a:solidFill>
                <a:latin typeface="Source Sans Pro" pitchFamily="34" charset="0"/>
              </a:rPr>
              <a:t>2</a:t>
            </a:r>
            <a:endParaRPr lang="en-US" sz="1600" b="1" dirty="0">
              <a:solidFill>
                <a:schemeClr val="bg1"/>
              </a:solidFill>
              <a:latin typeface="Source Sans Pro" pitchFamily="34" charset="0"/>
            </a:endParaRPr>
          </a:p>
        </p:txBody>
      </p:sp>
      <p:sp>
        <p:nvSpPr>
          <p:cNvPr id="9" name="Oval 8"/>
          <p:cNvSpPr/>
          <p:nvPr/>
        </p:nvSpPr>
        <p:spPr>
          <a:xfrm>
            <a:off x="126514" y="91529"/>
            <a:ext cx="360000" cy="36000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  <a:latin typeface="Garamond" pitchFamily="18" charset="0"/>
              </a:rPr>
              <a:t>1</a:t>
            </a:r>
            <a:endParaRPr lang="en-US" b="1" dirty="0">
              <a:solidFill>
                <a:schemeClr val="bg1"/>
              </a:solidFill>
              <a:latin typeface="Garamond" pitchFamily="18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6636" y="6518795"/>
            <a:ext cx="405486" cy="341951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629960" y="91529"/>
            <a:ext cx="360000" cy="36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00B0F0"/>
                </a:solidFill>
                <a:latin typeface="Garamond" pitchFamily="18" charset="0"/>
              </a:rPr>
              <a:t>2</a:t>
            </a:r>
            <a:endParaRPr lang="en-US" b="1" dirty="0">
              <a:solidFill>
                <a:srgbClr val="00B0F0"/>
              </a:solidFill>
              <a:latin typeface="Garamond" pitchFamily="18" charset="0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1133406" y="91529"/>
            <a:ext cx="360000" cy="36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00B0F0"/>
                </a:solidFill>
                <a:latin typeface="Garamond" pitchFamily="18" charset="0"/>
              </a:rPr>
              <a:t>3</a:t>
            </a:r>
            <a:endParaRPr lang="en-US" b="1" dirty="0">
              <a:solidFill>
                <a:srgbClr val="00B0F0"/>
              </a:solidFill>
              <a:latin typeface="Garamond" pitchFamily="18" charset="0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1636852" y="91529"/>
            <a:ext cx="360000" cy="360000"/>
          </a:xfrm>
          <a:prstGeom prst="ellipse">
            <a:avLst/>
          </a:prstGeom>
          <a:solidFill>
            <a:srgbClr val="FCFC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00B0F0"/>
                </a:solidFill>
                <a:latin typeface="Garamond" pitchFamily="18" charset="0"/>
              </a:rPr>
              <a:t>4</a:t>
            </a:r>
            <a:endParaRPr lang="en-US" b="1" dirty="0">
              <a:solidFill>
                <a:schemeClr val="bg1"/>
              </a:solidFill>
              <a:latin typeface="Garamond" pitchFamily="18" charset="0"/>
            </a:endParaRPr>
          </a:p>
        </p:txBody>
      </p:sp>
      <p:sp>
        <p:nvSpPr>
          <p:cNvPr id="14" name="Oval 17"/>
          <p:cNvSpPr/>
          <p:nvPr/>
        </p:nvSpPr>
        <p:spPr>
          <a:xfrm>
            <a:off x="2140298" y="91529"/>
            <a:ext cx="360000" cy="36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00B0F0"/>
                </a:solidFill>
                <a:latin typeface="Garamond" pitchFamily="18" charset="0"/>
              </a:rPr>
              <a:t>5</a:t>
            </a:r>
            <a:endParaRPr lang="en-US" b="1" dirty="0">
              <a:solidFill>
                <a:srgbClr val="00B0F0"/>
              </a:solidFill>
              <a:latin typeface="Garamond" pitchFamily="18" charset="0"/>
            </a:endParaRPr>
          </a:p>
        </p:txBody>
      </p:sp>
      <p:cxnSp>
        <p:nvCxnSpPr>
          <p:cNvPr id="15" name="Connecteur droit 86">
            <a:extLst>
              <a:ext uri="{FF2B5EF4-FFF2-40B4-BE49-F238E27FC236}">
                <a16:creationId xmlns:a16="http://schemas.microsoft.com/office/drawing/2014/main" id="{9A81C419-47FA-426F-BF8C-07945B270E9A}"/>
              </a:ext>
            </a:extLst>
          </p:cNvPr>
          <p:cNvCxnSpPr/>
          <p:nvPr/>
        </p:nvCxnSpPr>
        <p:spPr>
          <a:xfrm>
            <a:off x="3154454" y="59960"/>
            <a:ext cx="0" cy="440695"/>
          </a:xfrm>
          <a:prstGeom prst="line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36" name="Image 5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4144" y="6527514"/>
            <a:ext cx="829036" cy="289329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83A9A8D4-CDCB-4F96-8652-EC001675DCEE}"/>
              </a:ext>
            </a:extLst>
          </p:cNvPr>
          <p:cNvSpPr/>
          <p:nvPr/>
        </p:nvSpPr>
        <p:spPr>
          <a:xfrm>
            <a:off x="0" y="6448016"/>
            <a:ext cx="12192000" cy="4266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Garamond" charset="0"/>
              <a:ea typeface="Garamond" charset="0"/>
              <a:cs typeface="Garamond" charset="0"/>
            </a:endParaRPr>
          </a:p>
        </p:txBody>
      </p:sp>
      <p:sp>
        <p:nvSpPr>
          <p:cNvPr id="61" name="Shape 757">
            <a:extLst>
              <a:ext uri="{FF2B5EF4-FFF2-40B4-BE49-F238E27FC236}">
                <a16:creationId xmlns:a16="http://schemas.microsoft.com/office/drawing/2014/main" id="{18F06811-6E72-4BBD-86F3-98387976D03C}"/>
              </a:ext>
            </a:extLst>
          </p:cNvPr>
          <p:cNvSpPr/>
          <p:nvPr/>
        </p:nvSpPr>
        <p:spPr>
          <a:xfrm rot="10800000" flipH="1">
            <a:off x="8787415" y="877081"/>
            <a:ext cx="2707894" cy="59809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1" h="21583" extrusionOk="0">
                <a:moveTo>
                  <a:pt x="94" y="0"/>
                </a:moveTo>
                <a:cubicBezTo>
                  <a:pt x="6171" y="-3"/>
                  <a:pt x="11590" y="1252"/>
                  <a:pt x="15468" y="3252"/>
                </a:cubicBezTo>
                <a:cubicBezTo>
                  <a:pt x="19329" y="5244"/>
                  <a:pt x="21600" y="7944"/>
                  <a:pt x="21591" y="10798"/>
                </a:cubicBezTo>
                <a:cubicBezTo>
                  <a:pt x="21582" y="13731"/>
                  <a:pt x="19279" y="16456"/>
                  <a:pt x="15231" y="18475"/>
                </a:cubicBezTo>
                <a:cubicBezTo>
                  <a:pt x="11319" y="20427"/>
                  <a:pt x="5944" y="21597"/>
                  <a:pt x="0" y="21583"/>
                </a:cubicBezTo>
              </a:path>
            </a:pathLst>
          </a:custGeom>
          <a:noFill/>
          <a:ln w="12700" cap="flat">
            <a:noFill/>
            <a:prstDash val="solid"/>
            <a:miter lim="400000"/>
            <a:headEnd type="oval" w="med" len="med"/>
            <a:tailEnd type="oval" w="med" len="med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/>
            </a:pPr>
            <a:endParaRPr kumimoji="0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Picture 8">
            <a:extLst>
              <a:ext uri="{FF2B5EF4-FFF2-40B4-BE49-F238E27FC236}">
                <a16:creationId xmlns:a16="http://schemas.microsoft.com/office/drawing/2014/main" id="{895351D8-5812-2E42-478D-0D02F856195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11475482" y="5831381"/>
            <a:ext cx="766692" cy="639839"/>
          </a:xfrm>
          <a:prstGeom prst="rect">
            <a:avLst/>
          </a:prstGeom>
        </p:spPr>
      </p:pic>
      <p:sp>
        <p:nvSpPr>
          <p:cNvPr id="49" name="Oval 17">
            <a:extLst>
              <a:ext uri="{FF2B5EF4-FFF2-40B4-BE49-F238E27FC236}">
                <a16:creationId xmlns:a16="http://schemas.microsoft.com/office/drawing/2014/main" id="{C3CEFF76-C242-4D03-A9FC-8EABA816F77A}"/>
              </a:ext>
            </a:extLst>
          </p:cNvPr>
          <p:cNvSpPr/>
          <p:nvPr/>
        </p:nvSpPr>
        <p:spPr>
          <a:xfrm>
            <a:off x="2634936" y="100514"/>
            <a:ext cx="360000" cy="36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00B0F0"/>
                </a:solidFill>
                <a:latin typeface="Garamond" pitchFamily="18" charset="0"/>
              </a:rPr>
              <a:t>6</a:t>
            </a:r>
            <a:endParaRPr lang="en-US" b="1" dirty="0">
              <a:solidFill>
                <a:srgbClr val="00B0F0"/>
              </a:solidFill>
              <a:latin typeface="Garamond" pitchFamily="18" charset="0"/>
            </a:endParaRPr>
          </a:p>
        </p:txBody>
      </p:sp>
      <p:sp>
        <p:nvSpPr>
          <p:cNvPr id="4" name="Chevron 46">
            <a:extLst>
              <a:ext uri="{FF2B5EF4-FFF2-40B4-BE49-F238E27FC236}">
                <a16:creationId xmlns:a16="http://schemas.microsoft.com/office/drawing/2014/main" id="{4A412B0C-727F-7B23-18EA-2E8AB9332036}"/>
              </a:ext>
            </a:extLst>
          </p:cNvPr>
          <p:cNvSpPr/>
          <p:nvPr/>
        </p:nvSpPr>
        <p:spPr>
          <a:xfrm>
            <a:off x="6128657" y="661300"/>
            <a:ext cx="5808239" cy="583240"/>
          </a:xfrm>
          <a:prstGeom prst="chevron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solidFill>
                  <a:schemeClr val="bg1"/>
                </a:solidFill>
                <a:latin typeface="Garamond" charset="0"/>
              </a:rPr>
              <a:t>Problématique</a:t>
            </a:r>
          </a:p>
        </p:txBody>
      </p:sp>
      <p:sp>
        <p:nvSpPr>
          <p:cNvPr id="16" name="Pentagon 47">
            <a:extLst>
              <a:ext uri="{FF2B5EF4-FFF2-40B4-BE49-F238E27FC236}">
                <a16:creationId xmlns:a16="http://schemas.microsoft.com/office/drawing/2014/main" id="{1D862039-6D4E-C0AD-5BF5-0C3BCBF24C71}"/>
              </a:ext>
            </a:extLst>
          </p:cNvPr>
          <p:cNvSpPr/>
          <p:nvPr/>
        </p:nvSpPr>
        <p:spPr>
          <a:xfrm>
            <a:off x="126514" y="674776"/>
            <a:ext cx="6020286" cy="569764"/>
          </a:xfrm>
          <a:prstGeom prst="homePlate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bg1"/>
                </a:solidFill>
                <a:latin typeface="Garamond" charset="0"/>
              </a:rPr>
              <a:t>Contexte</a:t>
            </a:r>
          </a:p>
        </p:txBody>
      </p:sp>
      <p:sp>
        <p:nvSpPr>
          <p:cNvPr id="17" name="Rectangle 7">
            <a:extLst>
              <a:ext uri="{FF2B5EF4-FFF2-40B4-BE49-F238E27FC236}">
                <a16:creationId xmlns:a16="http://schemas.microsoft.com/office/drawing/2014/main" id="{584F55C4-4E07-AB9F-5A73-F57B19C3C4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28675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8" name="Rectangle 10">
            <a:extLst>
              <a:ext uri="{FF2B5EF4-FFF2-40B4-BE49-F238E27FC236}">
                <a16:creationId xmlns:a16="http://schemas.microsoft.com/office/drawing/2014/main" id="{BCF8B489-06A6-1D4C-15C1-E47FD5DA3B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28675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08A6C9DD-35C2-E7DB-EA26-D6A3B2116365}"/>
              </a:ext>
            </a:extLst>
          </p:cNvPr>
          <p:cNvSpPr txBox="1"/>
          <p:nvPr/>
        </p:nvSpPr>
        <p:spPr>
          <a:xfrm>
            <a:off x="564553" y="2020286"/>
            <a:ext cx="563756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dirty="0"/>
              <a:t>Le Maroc connaît une croissance rapide du transport routier 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dirty="0"/>
              <a:t>Plus de 350 000 véhicules de transport enregistrés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dirty="0"/>
              <a:t>Réseau routier dense : routes nationales, autoroutes, zones urbaines congestionnées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dirty="0"/>
              <a:t>Trafic routier croissant surtout dans les corridors Casablanca-Fès, Rabat-Marrakech</a:t>
            </a:r>
          </a:p>
          <a:p>
            <a:pPr algn="just"/>
            <a:r>
              <a:rPr lang="fr-FR" dirty="0"/>
              <a:t>Problèmes spécifiques au contexte marocain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dirty="0"/>
              <a:t>Urbanisation rapide → Augmentation du trafic urbain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dirty="0"/>
              <a:t>Rues étroites en médinas et centres-villes → Risques accrus de collision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dirty="0"/>
              <a:t>Manque de sensibilisation aux angles morts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dirty="0"/>
              <a:t>Parcs automobiles anciens → Moins d'équipements de sécurité</a:t>
            </a:r>
          </a:p>
        </p:txBody>
      </p:sp>
    </p:spTree>
    <p:extLst>
      <p:ext uri="{BB962C8B-B14F-4D97-AF65-F5344CB8AC3E}">
        <p14:creationId xmlns:p14="http://schemas.microsoft.com/office/powerpoint/2010/main" val="1063488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Image 32" descr="Une image contenant diagramme, ligne, texte, Plan&#10;&#10;Le contenu généré par l’IA peut être incorrect.">
            <a:extLst>
              <a:ext uri="{FF2B5EF4-FFF2-40B4-BE49-F238E27FC236}">
                <a16:creationId xmlns:a16="http://schemas.microsoft.com/office/drawing/2014/main" id="{46FBDB3A-B053-F9C9-F32B-7BFFAC1548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1755" y="1800418"/>
            <a:ext cx="4303553" cy="401664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73371"/>
            <a:ext cx="12208932" cy="40127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Garamond" charset="0"/>
                <a:ea typeface="Garamond" charset="0"/>
                <a:cs typeface="Garamond" charset="0"/>
              </a:rPr>
              <a:t>Projet de Fin d’Etudes 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6636" y="6518795"/>
            <a:ext cx="405486" cy="341951"/>
          </a:xfrm>
          <a:prstGeom prst="rect">
            <a:avLst/>
          </a:prstGeom>
        </p:spPr>
      </p:pic>
      <p:pic>
        <p:nvPicPr>
          <p:cNvPr id="36" name="Image 5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4144" y="6527514"/>
            <a:ext cx="829036" cy="289329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83A9A8D4-CDCB-4F96-8652-EC001675DCEE}"/>
              </a:ext>
            </a:extLst>
          </p:cNvPr>
          <p:cNvSpPr/>
          <p:nvPr/>
        </p:nvSpPr>
        <p:spPr>
          <a:xfrm>
            <a:off x="0" y="6473371"/>
            <a:ext cx="12192000" cy="40127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Garamond" charset="0"/>
              <a:ea typeface="Garamond" charset="0"/>
              <a:cs typeface="Garamond" charset="0"/>
            </a:endParaRPr>
          </a:p>
        </p:txBody>
      </p:sp>
      <p:sp>
        <p:nvSpPr>
          <p:cNvPr id="61" name="Shape 757">
            <a:extLst>
              <a:ext uri="{FF2B5EF4-FFF2-40B4-BE49-F238E27FC236}">
                <a16:creationId xmlns:a16="http://schemas.microsoft.com/office/drawing/2014/main" id="{18F06811-6E72-4BBD-86F3-98387976D03C}"/>
              </a:ext>
            </a:extLst>
          </p:cNvPr>
          <p:cNvSpPr/>
          <p:nvPr/>
        </p:nvSpPr>
        <p:spPr>
          <a:xfrm rot="10800000" flipH="1">
            <a:off x="8787415" y="877081"/>
            <a:ext cx="2707894" cy="59809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1" h="21583" extrusionOk="0">
                <a:moveTo>
                  <a:pt x="94" y="0"/>
                </a:moveTo>
                <a:cubicBezTo>
                  <a:pt x="6171" y="-3"/>
                  <a:pt x="11590" y="1252"/>
                  <a:pt x="15468" y="3252"/>
                </a:cubicBezTo>
                <a:cubicBezTo>
                  <a:pt x="19329" y="5244"/>
                  <a:pt x="21600" y="7944"/>
                  <a:pt x="21591" y="10798"/>
                </a:cubicBezTo>
                <a:cubicBezTo>
                  <a:pt x="21582" y="13731"/>
                  <a:pt x="19279" y="16456"/>
                  <a:pt x="15231" y="18475"/>
                </a:cubicBezTo>
                <a:cubicBezTo>
                  <a:pt x="11319" y="20427"/>
                  <a:pt x="5944" y="21597"/>
                  <a:pt x="0" y="21583"/>
                </a:cubicBezTo>
              </a:path>
            </a:pathLst>
          </a:custGeom>
          <a:noFill/>
          <a:ln w="12700" cap="flat">
            <a:noFill/>
            <a:prstDash val="solid"/>
            <a:miter lim="400000"/>
            <a:headEnd type="oval" w="med" len="med"/>
            <a:tailEnd type="oval" w="med" len="med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/>
            </a:pPr>
            <a:endParaRPr kumimoji="0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23EE4F88-3A1F-7184-CB9A-5ACF6DBA9D5C}"/>
              </a:ext>
            </a:extLst>
          </p:cNvPr>
          <p:cNvSpPr txBox="1"/>
          <p:nvPr/>
        </p:nvSpPr>
        <p:spPr>
          <a:xfrm>
            <a:off x="479819" y="1800419"/>
            <a:ext cx="616305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dirty="0"/>
              <a:t>L'angle mort d'un camion ou bus s'étend sur 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dirty="0"/>
              <a:t>2-3 mètres sur chaque côté du véhicule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dirty="0"/>
              <a:t>Zones complètement invisibles pour le conducteur aux rétroviseurs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dirty="0"/>
              <a:t>Point critique en zones urbaines : piétons, deux-roues, voitures</a:t>
            </a:r>
          </a:p>
          <a:p>
            <a:pPr algn="just"/>
            <a:r>
              <a:rPr lang="fr-FR" dirty="0"/>
              <a:t>Conséquences au Maroc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dirty="0"/>
              <a:t>Environ 30% des accidents en zones urbaines impliquent des véhicules de transport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dirty="0"/>
              <a:t>Les angles morts causent régulièrement des accidents mortels à Casablanca, Fès, Marrakech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dirty="0"/>
              <a:t>Victimes souvent vulnérables : piétons, enfants, motards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dirty="0"/>
              <a:t>Coût économique : hospitalisations, dégâts matériels, perte de productivité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35F6BE-06F0-992F-3C69-8A19AA309276}"/>
              </a:ext>
            </a:extLst>
          </p:cNvPr>
          <p:cNvSpPr/>
          <p:nvPr/>
        </p:nvSpPr>
        <p:spPr>
          <a:xfrm>
            <a:off x="-16932" y="0"/>
            <a:ext cx="12208932" cy="5832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ramond" charset="0"/>
                <a:ea typeface="Garamond" charset="0"/>
                <a:cs typeface="Garamond" charset="0"/>
              </a:rPr>
              <a:t>                           </a:t>
            </a:r>
          </a:p>
          <a:p>
            <a:pPr lvl="0" algn="ctr">
              <a:defRPr/>
            </a:pPr>
            <a:r>
              <a:rPr lang="fr-FR" sz="2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  <a:cs typeface="Times New Roman" panose="02020603050405020304" pitchFamily="18" charset="0"/>
              </a:rPr>
              <a:t>Contexte et Problème</a:t>
            </a:r>
            <a:endParaRPr lang="en-US" sz="2000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ramond" panose="02020404030301010803" pitchFamily="18" charset="0"/>
              <a:cs typeface="Times New Roman" panose="02020603050405020304" pitchFamily="18" charset="0"/>
            </a:endParaRPr>
          </a:p>
          <a:p>
            <a:pPr algn="ctr"/>
            <a:endParaRPr lang="fr-FR" sz="2400" b="1" dirty="0">
              <a:solidFill>
                <a:schemeClr val="tx1">
                  <a:lumMod val="95000"/>
                  <a:lumOff val="5000"/>
                </a:schemeClr>
              </a:solidFill>
              <a:latin typeface="Garamond" charset="0"/>
              <a:ea typeface="Garamond" charset="0"/>
              <a:cs typeface="Garamond" charset="0"/>
            </a:endParaRPr>
          </a:p>
        </p:txBody>
      </p:sp>
      <p:sp>
        <p:nvSpPr>
          <p:cNvPr id="4" name="Flowchart: Off-page Connector 30">
            <a:extLst>
              <a:ext uri="{FF2B5EF4-FFF2-40B4-BE49-F238E27FC236}">
                <a16:creationId xmlns:a16="http://schemas.microsoft.com/office/drawing/2014/main" id="{03915280-D786-A955-4E54-0DD03DDC704B}"/>
              </a:ext>
            </a:extLst>
          </p:cNvPr>
          <p:cNvSpPr/>
          <p:nvPr/>
        </p:nvSpPr>
        <p:spPr>
          <a:xfrm>
            <a:off x="11744324" y="11654"/>
            <a:ext cx="365143" cy="537721"/>
          </a:xfrm>
          <a:prstGeom prst="flowChartOffpageConnector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>
                <a:solidFill>
                  <a:schemeClr val="bg1"/>
                </a:solidFill>
                <a:latin typeface="Source Sans Pro" pitchFamily="34" charset="0"/>
              </a:rPr>
              <a:t>2</a:t>
            </a:r>
            <a:endParaRPr lang="en-US" sz="1600" b="1" dirty="0">
              <a:solidFill>
                <a:schemeClr val="bg1"/>
              </a:solidFill>
              <a:latin typeface="Source Sans Pro" pitchFamily="34" charset="0"/>
            </a:endParaRPr>
          </a:p>
        </p:txBody>
      </p:sp>
      <p:sp>
        <p:nvSpPr>
          <p:cNvPr id="5" name="Oval 8">
            <a:extLst>
              <a:ext uri="{FF2B5EF4-FFF2-40B4-BE49-F238E27FC236}">
                <a16:creationId xmlns:a16="http://schemas.microsoft.com/office/drawing/2014/main" id="{C5F02BD4-215C-7ABD-8C12-884A7B33A6B9}"/>
              </a:ext>
            </a:extLst>
          </p:cNvPr>
          <p:cNvSpPr/>
          <p:nvPr/>
        </p:nvSpPr>
        <p:spPr>
          <a:xfrm>
            <a:off x="126514" y="91529"/>
            <a:ext cx="360000" cy="36000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  <a:latin typeface="Garamond" pitchFamily="18" charset="0"/>
              </a:rPr>
              <a:t>1</a:t>
            </a:r>
            <a:endParaRPr lang="en-US" b="1" dirty="0">
              <a:solidFill>
                <a:schemeClr val="bg1"/>
              </a:solidFill>
              <a:latin typeface="Garamond" pitchFamily="18" charset="0"/>
            </a:endParaRPr>
          </a:p>
        </p:txBody>
      </p:sp>
      <p:sp>
        <p:nvSpPr>
          <p:cNvPr id="21" name="Oval 10">
            <a:extLst>
              <a:ext uri="{FF2B5EF4-FFF2-40B4-BE49-F238E27FC236}">
                <a16:creationId xmlns:a16="http://schemas.microsoft.com/office/drawing/2014/main" id="{0725C41E-09D7-EE46-3B29-F000FF67C7D6}"/>
              </a:ext>
            </a:extLst>
          </p:cNvPr>
          <p:cNvSpPr/>
          <p:nvPr/>
        </p:nvSpPr>
        <p:spPr>
          <a:xfrm>
            <a:off x="629960" y="91529"/>
            <a:ext cx="360000" cy="36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00B0F0"/>
                </a:solidFill>
                <a:latin typeface="Garamond" pitchFamily="18" charset="0"/>
              </a:rPr>
              <a:t>2</a:t>
            </a:r>
            <a:endParaRPr lang="en-US" b="1" dirty="0">
              <a:solidFill>
                <a:srgbClr val="00B0F0"/>
              </a:solidFill>
              <a:latin typeface="Garamond" pitchFamily="18" charset="0"/>
            </a:endParaRPr>
          </a:p>
        </p:txBody>
      </p:sp>
      <p:sp>
        <p:nvSpPr>
          <p:cNvPr id="22" name="Oval 11">
            <a:extLst>
              <a:ext uri="{FF2B5EF4-FFF2-40B4-BE49-F238E27FC236}">
                <a16:creationId xmlns:a16="http://schemas.microsoft.com/office/drawing/2014/main" id="{6BCAABF8-4ED7-82F8-F316-D6CA4CA56C4A}"/>
              </a:ext>
            </a:extLst>
          </p:cNvPr>
          <p:cNvSpPr/>
          <p:nvPr/>
        </p:nvSpPr>
        <p:spPr>
          <a:xfrm>
            <a:off x="1133406" y="91529"/>
            <a:ext cx="360000" cy="36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00B0F0"/>
                </a:solidFill>
                <a:latin typeface="Garamond" pitchFamily="18" charset="0"/>
              </a:rPr>
              <a:t>3</a:t>
            </a:r>
            <a:endParaRPr lang="en-US" b="1" dirty="0">
              <a:solidFill>
                <a:srgbClr val="00B0F0"/>
              </a:solidFill>
              <a:latin typeface="Garamond" pitchFamily="18" charset="0"/>
            </a:endParaRPr>
          </a:p>
        </p:txBody>
      </p:sp>
      <p:sp>
        <p:nvSpPr>
          <p:cNvPr id="23" name="Oval 12">
            <a:extLst>
              <a:ext uri="{FF2B5EF4-FFF2-40B4-BE49-F238E27FC236}">
                <a16:creationId xmlns:a16="http://schemas.microsoft.com/office/drawing/2014/main" id="{8D5FB693-98DA-861A-BABF-CD2716D686B9}"/>
              </a:ext>
            </a:extLst>
          </p:cNvPr>
          <p:cNvSpPr/>
          <p:nvPr/>
        </p:nvSpPr>
        <p:spPr>
          <a:xfrm>
            <a:off x="1636852" y="91529"/>
            <a:ext cx="360000" cy="360000"/>
          </a:xfrm>
          <a:prstGeom prst="ellipse">
            <a:avLst/>
          </a:prstGeom>
          <a:solidFill>
            <a:srgbClr val="FCFC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00B0F0"/>
                </a:solidFill>
                <a:latin typeface="Garamond" pitchFamily="18" charset="0"/>
              </a:rPr>
              <a:t>4</a:t>
            </a:r>
            <a:endParaRPr lang="en-US" b="1" dirty="0">
              <a:solidFill>
                <a:schemeClr val="bg1"/>
              </a:solidFill>
              <a:latin typeface="Garamond" pitchFamily="18" charset="0"/>
            </a:endParaRPr>
          </a:p>
        </p:txBody>
      </p:sp>
      <p:sp>
        <p:nvSpPr>
          <p:cNvPr id="24" name="Oval 17">
            <a:extLst>
              <a:ext uri="{FF2B5EF4-FFF2-40B4-BE49-F238E27FC236}">
                <a16:creationId xmlns:a16="http://schemas.microsoft.com/office/drawing/2014/main" id="{C30D387D-39F4-30DC-8757-5BBD2E9241CF}"/>
              </a:ext>
            </a:extLst>
          </p:cNvPr>
          <p:cNvSpPr/>
          <p:nvPr/>
        </p:nvSpPr>
        <p:spPr>
          <a:xfrm>
            <a:off x="2140298" y="91529"/>
            <a:ext cx="360000" cy="36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00B0F0"/>
                </a:solidFill>
                <a:latin typeface="Garamond" pitchFamily="18" charset="0"/>
              </a:rPr>
              <a:t>5</a:t>
            </a:r>
            <a:endParaRPr lang="en-US" b="1" dirty="0">
              <a:solidFill>
                <a:srgbClr val="00B0F0"/>
              </a:solidFill>
              <a:latin typeface="Garamond" pitchFamily="18" charset="0"/>
            </a:endParaRPr>
          </a:p>
        </p:txBody>
      </p:sp>
      <p:cxnSp>
        <p:nvCxnSpPr>
          <p:cNvPr id="25" name="Connecteur droit 86">
            <a:extLst>
              <a:ext uri="{FF2B5EF4-FFF2-40B4-BE49-F238E27FC236}">
                <a16:creationId xmlns:a16="http://schemas.microsoft.com/office/drawing/2014/main" id="{5B49CCCA-EEDB-EC2E-ECB4-C80C48694582}"/>
              </a:ext>
            </a:extLst>
          </p:cNvPr>
          <p:cNvCxnSpPr/>
          <p:nvPr/>
        </p:nvCxnSpPr>
        <p:spPr>
          <a:xfrm>
            <a:off x="3154454" y="59960"/>
            <a:ext cx="0" cy="440695"/>
          </a:xfrm>
          <a:prstGeom prst="line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6" name="Oval 17">
            <a:extLst>
              <a:ext uri="{FF2B5EF4-FFF2-40B4-BE49-F238E27FC236}">
                <a16:creationId xmlns:a16="http://schemas.microsoft.com/office/drawing/2014/main" id="{F9E4C6A3-AC2B-2C49-54D8-4D1ED3FD01D5}"/>
              </a:ext>
            </a:extLst>
          </p:cNvPr>
          <p:cNvSpPr/>
          <p:nvPr/>
        </p:nvSpPr>
        <p:spPr>
          <a:xfrm>
            <a:off x="2634936" y="100514"/>
            <a:ext cx="360000" cy="36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00B0F0"/>
                </a:solidFill>
                <a:latin typeface="Garamond" pitchFamily="18" charset="0"/>
              </a:rPr>
              <a:t>6</a:t>
            </a:r>
            <a:endParaRPr lang="en-US" b="1" dirty="0">
              <a:solidFill>
                <a:srgbClr val="00B0F0"/>
              </a:solidFill>
              <a:latin typeface="Garamond" pitchFamily="18" charset="0"/>
            </a:endParaRPr>
          </a:p>
        </p:txBody>
      </p:sp>
      <p:sp>
        <p:nvSpPr>
          <p:cNvPr id="27" name="Chevron 46">
            <a:extLst>
              <a:ext uri="{FF2B5EF4-FFF2-40B4-BE49-F238E27FC236}">
                <a16:creationId xmlns:a16="http://schemas.microsoft.com/office/drawing/2014/main" id="{177D6231-9B78-FB89-59DC-439ADBA1AD52}"/>
              </a:ext>
            </a:extLst>
          </p:cNvPr>
          <p:cNvSpPr/>
          <p:nvPr/>
        </p:nvSpPr>
        <p:spPr>
          <a:xfrm>
            <a:off x="6128657" y="661300"/>
            <a:ext cx="5808239" cy="583240"/>
          </a:xfrm>
          <a:prstGeom prst="chevron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solidFill>
                  <a:schemeClr val="bg1"/>
                </a:solidFill>
                <a:latin typeface="Garamond" charset="0"/>
              </a:rPr>
              <a:t>Problématique</a:t>
            </a:r>
          </a:p>
        </p:txBody>
      </p:sp>
      <p:sp>
        <p:nvSpPr>
          <p:cNvPr id="28" name="Pentagon 47">
            <a:extLst>
              <a:ext uri="{FF2B5EF4-FFF2-40B4-BE49-F238E27FC236}">
                <a16:creationId xmlns:a16="http://schemas.microsoft.com/office/drawing/2014/main" id="{97A4A53E-5953-E51A-6FAB-9FBBBB48F162}"/>
              </a:ext>
            </a:extLst>
          </p:cNvPr>
          <p:cNvSpPr/>
          <p:nvPr/>
        </p:nvSpPr>
        <p:spPr>
          <a:xfrm>
            <a:off x="126514" y="674776"/>
            <a:ext cx="6020286" cy="569764"/>
          </a:xfrm>
          <a:prstGeom prst="homePlate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bg1"/>
                </a:solidFill>
                <a:latin typeface="Garamond" charset="0"/>
              </a:rPr>
              <a:t>Contexte</a:t>
            </a:r>
          </a:p>
        </p:txBody>
      </p:sp>
      <p:sp>
        <p:nvSpPr>
          <p:cNvPr id="30" name="Rectangle 7">
            <a:extLst>
              <a:ext uri="{FF2B5EF4-FFF2-40B4-BE49-F238E27FC236}">
                <a16:creationId xmlns:a16="http://schemas.microsoft.com/office/drawing/2014/main" id="{8B75DA0E-8055-3E94-90D2-CE713F7CBD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28675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1" name="Rectangle 10">
            <a:extLst>
              <a:ext uri="{FF2B5EF4-FFF2-40B4-BE49-F238E27FC236}">
                <a16:creationId xmlns:a16="http://schemas.microsoft.com/office/drawing/2014/main" id="{C2C3289E-39C1-5256-DCF9-4C24A60F8C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28675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2427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6473371"/>
            <a:ext cx="12208932" cy="40127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Garamond" charset="0"/>
                <a:ea typeface="Garamond" charset="0"/>
                <a:cs typeface="Garamond" charset="0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-16932" y="0"/>
            <a:ext cx="12208932" cy="5832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fr-FR" sz="24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  <a:cs typeface="Times New Roman" panose="02020603050405020304" pitchFamily="18" charset="0"/>
              </a:rPr>
              <a:t>Cahier des charges</a:t>
            </a:r>
          </a:p>
        </p:txBody>
      </p:sp>
      <p:sp>
        <p:nvSpPr>
          <p:cNvPr id="8" name="Flowchart: Off-page Connector 30"/>
          <p:cNvSpPr/>
          <p:nvPr/>
        </p:nvSpPr>
        <p:spPr>
          <a:xfrm>
            <a:off x="11744324" y="11654"/>
            <a:ext cx="365143" cy="537721"/>
          </a:xfrm>
          <a:prstGeom prst="flowChartOffpageConnector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Source Sans Pro" pitchFamily="34" charset="0"/>
              </a:rPr>
              <a:t>6</a:t>
            </a:r>
          </a:p>
        </p:txBody>
      </p:sp>
      <p:sp>
        <p:nvSpPr>
          <p:cNvPr id="9" name="Oval 8"/>
          <p:cNvSpPr/>
          <p:nvPr/>
        </p:nvSpPr>
        <p:spPr>
          <a:xfrm>
            <a:off x="126514" y="91529"/>
            <a:ext cx="360000" cy="3600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00B0F0"/>
                </a:solidFill>
                <a:latin typeface="Garamond" pitchFamily="18" charset="0"/>
              </a:rPr>
              <a:t>1</a:t>
            </a:r>
            <a:endParaRPr lang="en-US" b="1" dirty="0">
              <a:solidFill>
                <a:srgbClr val="00B0F0"/>
              </a:solidFill>
              <a:latin typeface="Garamond" pitchFamily="18" charset="0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629960" y="91529"/>
            <a:ext cx="360000" cy="36000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  <a:latin typeface="Garamond" pitchFamily="18" charset="0"/>
              </a:rPr>
              <a:t>2</a:t>
            </a:r>
            <a:endParaRPr lang="en-US" b="1" dirty="0">
              <a:solidFill>
                <a:schemeClr val="bg1"/>
              </a:solidFill>
              <a:latin typeface="Garamond" pitchFamily="18" charset="0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1133406" y="91529"/>
            <a:ext cx="360000" cy="36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00B0F0"/>
                </a:solidFill>
                <a:latin typeface="Garamond" pitchFamily="18" charset="0"/>
              </a:rPr>
              <a:t>3</a:t>
            </a:r>
            <a:endParaRPr lang="en-US" b="1" dirty="0">
              <a:solidFill>
                <a:srgbClr val="00B0F0"/>
              </a:solidFill>
              <a:latin typeface="Garamond" pitchFamily="18" charset="0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1636852" y="91529"/>
            <a:ext cx="360000" cy="36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049DEB"/>
                </a:solidFill>
                <a:latin typeface="Garamond" pitchFamily="18" charset="0"/>
              </a:rPr>
              <a:t>4</a:t>
            </a:r>
            <a:endParaRPr lang="en-US" b="1" dirty="0">
              <a:solidFill>
                <a:srgbClr val="049DEB"/>
              </a:solidFill>
              <a:latin typeface="Garamond" pitchFamily="18" charset="0"/>
            </a:endParaRPr>
          </a:p>
        </p:txBody>
      </p:sp>
      <p:sp>
        <p:nvSpPr>
          <p:cNvPr id="14" name="Oval 17"/>
          <p:cNvSpPr/>
          <p:nvPr/>
        </p:nvSpPr>
        <p:spPr>
          <a:xfrm>
            <a:off x="2140298" y="91529"/>
            <a:ext cx="360000" cy="36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00B0F0"/>
                </a:solidFill>
                <a:latin typeface="Garamond" pitchFamily="18" charset="0"/>
              </a:rPr>
              <a:t>5</a:t>
            </a:r>
            <a:endParaRPr lang="en-US" b="1" dirty="0">
              <a:solidFill>
                <a:srgbClr val="00B0F0"/>
              </a:solidFill>
              <a:latin typeface="Garamond" pitchFamily="18" charset="0"/>
            </a:endParaRPr>
          </a:p>
        </p:txBody>
      </p:sp>
      <p:cxnSp>
        <p:nvCxnSpPr>
          <p:cNvPr id="15" name="Connecteur droit 86">
            <a:extLst>
              <a:ext uri="{FF2B5EF4-FFF2-40B4-BE49-F238E27FC236}">
                <a16:creationId xmlns:a16="http://schemas.microsoft.com/office/drawing/2014/main" id="{9A81C419-47FA-426F-BF8C-07945B270E9A}"/>
              </a:ext>
            </a:extLst>
          </p:cNvPr>
          <p:cNvCxnSpPr/>
          <p:nvPr/>
        </p:nvCxnSpPr>
        <p:spPr>
          <a:xfrm>
            <a:off x="3126023" y="61633"/>
            <a:ext cx="0" cy="440695"/>
          </a:xfrm>
          <a:prstGeom prst="line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Oval 17">
            <a:extLst>
              <a:ext uri="{FF2B5EF4-FFF2-40B4-BE49-F238E27FC236}">
                <a16:creationId xmlns:a16="http://schemas.microsoft.com/office/drawing/2014/main" id="{8616CA85-4615-0641-ABFC-1F9B9A97E94E}"/>
              </a:ext>
            </a:extLst>
          </p:cNvPr>
          <p:cNvSpPr/>
          <p:nvPr/>
        </p:nvSpPr>
        <p:spPr>
          <a:xfrm>
            <a:off x="2634936" y="100514"/>
            <a:ext cx="360000" cy="36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00B0F0"/>
                </a:solidFill>
                <a:latin typeface="Garamond" pitchFamily="18" charset="0"/>
              </a:rPr>
              <a:t>6</a:t>
            </a:r>
            <a:endParaRPr lang="en-US" b="1" dirty="0">
              <a:solidFill>
                <a:srgbClr val="00B0F0"/>
              </a:solidFill>
              <a:latin typeface="Garamond" pitchFamily="18" charset="0"/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76481E78-FE02-0F95-4493-268D170AC65B}"/>
              </a:ext>
            </a:extLst>
          </p:cNvPr>
          <p:cNvSpPr txBox="1"/>
          <p:nvPr/>
        </p:nvSpPr>
        <p:spPr>
          <a:xfrm>
            <a:off x="2452254" y="1800419"/>
            <a:ext cx="730442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dirty="0"/>
              <a:t>A) Détection et Surveillance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dirty="0"/>
              <a:t>Détecter les obstacles situés dans les angles morts (gauche et droite)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dirty="0"/>
              <a:t>Mesurer les distances en temps réel via capteurs ultrason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dirty="0"/>
              <a:t>Déterminer le niveau de danger (proche : 10cm, critique : 5cm)</a:t>
            </a:r>
          </a:p>
          <a:p>
            <a:pPr algn="just"/>
            <a:r>
              <a:rPr lang="fr-FR" dirty="0"/>
              <a:t>B) </a:t>
            </a:r>
            <a:r>
              <a:rPr lang="fr-FR" dirty="0" err="1"/>
              <a:t>Alertage</a:t>
            </a:r>
            <a:r>
              <a:rPr lang="fr-FR" dirty="0"/>
              <a:t> du Conducteur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dirty="0"/>
              <a:t>Alerte visuelle : Interface 3D qui change de couleur/configuration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dirty="0"/>
              <a:t>Alerte sonore : Buzzer qui s'active selon la distance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dirty="0"/>
              <a:t>Interface intuitive : Conducteur comprend immédiatement la menace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dirty="0"/>
              <a:t>Distinction gauche/droite : Savoir d'où vient le danger</a:t>
            </a:r>
          </a:p>
          <a:p>
            <a:pPr algn="just"/>
            <a:r>
              <a:rPr lang="fr-FR" dirty="0"/>
              <a:t>C) Interface Utilisateur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dirty="0"/>
              <a:t>Visualisation 3D du camion en temps réel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dirty="0"/>
              <a:t>Rotation dynamique de caméra selon l'angle de danger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dirty="0"/>
              <a:t>Mode repos avec clignotants pour stationnement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dirty="0"/>
              <a:t>Contrôle par boutons (3 boutons Arduino)</a:t>
            </a:r>
          </a:p>
        </p:txBody>
      </p:sp>
      <p:sp>
        <p:nvSpPr>
          <p:cNvPr id="3" name="Chevron 46">
            <a:extLst>
              <a:ext uri="{FF2B5EF4-FFF2-40B4-BE49-F238E27FC236}">
                <a16:creationId xmlns:a16="http://schemas.microsoft.com/office/drawing/2014/main" id="{6E298E50-497A-12E0-C7C1-69D63EB39F9E}"/>
              </a:ext>
            </a:extLst>
          </p:cNvPr>
          <p:cNvSpPr/>
          <p:nvPr/>
        </p:nvSpPr>
        <p:spPr>
          <a:xfrm>
            <a:off x="6128657" y="661300"/>
            <a:ext cx="5808239" cy="583240"/>
          </a:xfrm>
          <a:prstGeom prst="chevron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solidFill>
                  <a:schemeClr val="bg1"/>
                </a:solidFill>
                <a:latin typeface="Garamond" charset="0"/>
              </a:rPr>
              <a:t>Contraintes</a:t>
            </a:r>
          </a:p>
        </p:txBody>
      </p:sp>
      <p:sp>
        <p:nvSpPr>
          <p:cNvPr id="4" name="Pentagon 47">
            <a:extLst>
              <a:ext uri="{FF2B5EF4-FFF2-40B4-BE49-F238E27FC236}">
                <a16:creationId xmlns:a16="http://schemas.microsoft.com/office/drawing/2014/main" id="{AD66EFD2-AF8D-8022-2F37-62EBC068D349}"/>
              </a:ext>
            </a:extLst>
          </p:cNvPr>
          <p:cNvSpPr/>
          <p:nvPr/>
        </p:nvSpPr>
        <p:spPr>
          <a:xfrm>
            <a:off x="126514" y="674776"/>
            <a:ext cx="6020286" cy="569764"/>
          </a:xfrm>
          <a:prstGeom prst="homePlate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Objectifs</a:t>
            </a:r>
            <a:endParaRPr lang="fr-FR" sz="2400" b="1" dirty="0">
              <a:solidFill>
                <a:schemeClr val="bg1"/>
              </a:solidFill>
              <a:latin typeface="Garamond" charset="0"/>
            </a:endParaRP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349BAC4E-D8AA-68C2-7A74-D78E7FAB47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28675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FB77E4E3-F27F-FCD8-DE62-1DFB39B383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28675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2297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66F59-0DC4-B643-541F-E5BD58B54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6700EBD-4DFD-4720-C198-E26524EEE9A5}"/>
              </a:ext>
            </a:extLst>
          </p:cNvPr>
          <p:cNvSpPr/>
          <p:nvPr/>
        </p:nvSpPr>
        <p:spPr>
          <a:xfrm>
            <a:off x="0" y="6473371"/>
            <a:ext cx="12208932" cy="40127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Garamond" charset="0"/>
                <a:ea typeface="Garamond" charset="0"/>
                <a:cs typeface="Garamond" charset="0"/>
              </a:rPr>
              <a:t> 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C79624F5-84F5-8747-7F53-D3A4C97EA548}"/>
              </a:ext>
            </a:extLst>
          </p:cNvPr>
          <p:cNvSpPr txBox="1"/>
          <p:nvPr/>
        </p:nvSpPr>
        <p:spPr>
          <a:xfrm>
            <a:off x="3434135" y="1866291"/>
            <a:ext cx="422832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dirty="0"/>
              <a:t>CONTRAINTES HARDWARE :</a:t>
            </a:r>
          </a:p>
          <a:p>
            <a:pPr algn="just"/>
            <a:r>
              <a:rPr lang="fr-FR" dirty="0"/>
              <a:t>• 2 capteurs ultrason (gauche/droite) → couverture limitée</a:t>
            </a:r>
          </a:p>
          <a:p>
            <a:pPr algn="just"/>
            <a:r>
              <a:rPr lang="fr-FR" dirty="0"/>
              <a:t>• Seuils fixes 5cm/10cm, port série fixe COM3</a:t>
            </a:r>
          </a:p>
          <a:p>
            <a:pPr algn="just"/>
            <a:r>
              <a:rPr lang="fr-FR" dirty="0"/>
              <a:t>• 3 boutons, buzzer simple, pas de capteurs avancés</a:t>
            </a:r>
          </a:p>
          <a:p>
            <a:pPr algn="just"/>
            <a:endParaRPr lang="fr-FR" dirty="0"/>
          </a:p>
          <a:p>
            <a:pPr algn="just"/>
            <a:r>
              <a:rPr lang="fr-FR" dirty="0"/>
              <a:t>CONTRAINTES SOFTWARE :</a:t>
            </a:r>
          </a:p>
          <a:p>
            <a:pPr algn="just"/>
            <a:r>
              <a:rPr lang="fr-FR" dirty="0"/>
              <a:t>• communication série</a:t>
            </a:r>
          </a:p>
          <a:p>
            <a:pPr algn="just"/>
            <a:r>
              <a:rPr lang="fr-FR" dirty="0"/>
              <a:t>• Pas </a:t>
            </a:r>
            <a:r>
              <a:rPr lang="fr-FR" dirty="0" err="1"/>
              <a:t>filtering</a:t>
            </a:r>
            <a:r>
              <a:rPr lang="fr-FR" dirty="0"/>
              <a:t> données, pas </a:t>
            </a:r>
            <a:r>
              <a:rPr lang="fr-FR" dirty="0" err="1"/>
              <a:t>logging</a:t>
            </a:r>
            <a:r>
              <a:rPr lang="fr-FR" dirty="0"/>
              <a:t>, pas </a:t>
            </a:r>
            <a:r>
              <a:rPr lang="fr-FR" dirty="0" err="1"/>
              <a:t>multi-threading</a:t>
            </a:r>
            <a:endParaRPr lang="fr-FR" dirty="0"/>
          </a:p>
          <a:p>
            <a:pPr algn="just"/>
            <a:r>
              <a:rPr lang="fr-FR" dirty="0"/>
              <a:t>• Seuils codés en dur, animations QML fixes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434BC4D-EF38-65CC-253F-60FB2301BEB3}"/>
              </a:ext>
            </a:extLst>
          </p:cNvPr>
          <p:cNvSpPr/>
          <p:nvPr/>
        </p:nvSpPr>
        <p:spPr>
          <a:xfrm>
            <a:off x="-16932" y="0"/>
            <a:ext cx="12208932" cy="5832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fr-FR" sz="24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  <a:cs typeface="Times New Roman" panose="02020603050405020304" pitchFamily="18" charset="0"/>
              </a:rPr>
              <a:t>Cahier des charges</a:t>
            </a:r>
          </a:p>
        </p:txBody>
      </p:sp>
      <p:sp>
        <p:nvSpPr>
          <p:cNvPr id="16" name="Flowchart: Off-page Connector 30">
            <a:extLst>
              <a:ext uri="{FF2B5EF4-FFF2-40B4-BE49-F238E27FC236}">
                <a16:creationId xmlns:a16="http://schemas.microsoft.com/office/drawing/2014/main" id="{960A625E-8BE2-AA0F-08C1-416BD3F4C5B0}"/>
              </a:ext>
            </a:extLst>
          </p:cNvPr>
          <p:cNvSpPr/>
          <p:nvPr/>
        </p:nvSpPr>
        <p:spPr>
          <a:xfrm>
            <a:off x="11744324" y="11654"/>
            <a:ext cx="365143" cy="537721"/>
          </a:xfrm>
          <a:prstGeom prst="flowChartOffpageConnector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Source Sans Pro" pitchFamily="34" charset="0"/>
              </a:rPr>
              <a:t>6</a:t>
            </a:r>
          </a:p>
        </p:txBody>
      </p:sp>
      <p:sp>
        <p:nvSpPr>
          <p:cNvPr id="17" name="Oval 8">
            <a:extLst>
              <a:ext uri="{FF2B5EF4-FFF2-40B4-BE49-F238E27FC236}">
                <a16:creationId xmlns:a16="http://schemas.microsoft.com/office/drawing/2014/main" id="{99DA6962-33AD-47AC-0082-7C8E89C5BB59}"/>
              </a:ext>
            </a:extLst>
          </p:cNvPr>
          <p:cNvSpPr/>
          <p:nvPr/>
        </p:nvSpPr>
        <p:spPr>
          <a:xfrm>
            <a:off x="126514" y="91529"/>
            <a:ext cx="360000" cy="3600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00B0F0"/>
                </a:solidFill>
                <a:latin typeface="Garamond" pitchFamily="18" charset="0"/>
              </a:rPr>
              <a:t>1</a:t>
            </a:r>
            <a:endParaRPr lang="en-US" b="1" dirty="0">
              <a:solidFill>
                <a:srgbClr val="00B0F0"/>
              </a:solidFill>
              <a:latin typeface="Garamond" pitchFamily="18" charset="0"/>
            </a:endParaRPr>
          </a:p>
        </p:txBody>
      </p:sp>
      <p:sp>
        <p:nvSpPr>
          <p:cNvPr id="18" name="Oval 10">
            <a:extLst>
              <a:ext uri="{FF2B5EF4-FFF2-40B4-BE49-F238E27FC236}">
                <a16:creationId xmlns:a16="http://schemas.microsoft.com/office/drawing/2014/main" id="{9832F700-425B-FFC1-5E77-5CC7624D2F60}"/>
              </a:ext>
            </a:extLst>
          </p:cNvPr>
          <p:cNvSpPr/>
          <p:nvPr/>
        </p:nvSpPr>
        <p:spPr>
          <a:xfrm>
            <a:off x="629960" y="91529"/>
            <a:ext cx="360000" cy="36000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  <a:latin typeface="Garamond" pitchFamily="18" charset="0"/>
              </a:rPr>
              <a:t>2</a:t>
            </a:r>
            <a:endParaRPr lang="en-US" b="1" dirty="0">
              <a:solidFill>
                <a:schemeClr val="bg1"/>
              </a:solidFill>
              <a:latin typeface="Garamond" pitchFamily="18" charset="0"/>
            </a:endParaRPr>
          </a:p>
        </p:txBody>
      </p:sp>
      <p:sp>
        <p:nvSpPr>
          <p:cNvPr id="19" name="Oval 11">
            <a:extLst>
              <a:ext uri="{FF2B5EF4-FFF2-40B4-BE49-F238E27FC236}">
                <a16:creationId xmlns:a16="http://schemas.microsoft.com/office/drawing/2014/main" id="{1129E41B-2E1D-B6D9-7438-C47839120B3F}"/>
              </a:ext>
            </a:extLst>
          </p:cNvPr>
          <p:cNvSpPr/>
          <p:nvPr/>
        </p:nvSpPr>
        <p:spPr>
          <a:xfrm>
            <a:off x="1133406" y="91529"/>
            <a:ext cx="360000" cy="36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00B0F0"/>
                </a:solidFill>
                <a:latin typeface="Garamond" pitchFamily="18" charset="0"/>
              </a:rPr>
              <a:t>3</a:t>
            </a:r>
            <a:endParaRPr lang="en-US" b="1" dirty="0">
              <a:solidFill>
                <a:srgbClr val="00B0F0"/>
              </a:solidFill>
              <a:latin typeface="Garamond" pitchFamily="18" charset="0"/>
            </a:endParaRPr>
          </a:p>
        </p:txBody>
      </p:sp>
      <p:sp>
        <p:nvSpPr>
          <p:cNvPr id="20" name="Oval 12">
            <a:extLst>
              <a:ext uri="{FF2B5EF4-FFF2-40B4-BE49-F238E27FC236}">
                <a16:creationId xmlns:a16="http://schemas.microsoft.com/office/drawing/2014/main" id="{4D906B45-F74D-F5A3-CBC6-3943EA898448}"/>
              </a:ext>
            </a:extLst>
          </p:cNvPr>
          <p:cNvSpPr/>
          <p:nvPr/>
        </p:nvSpPr>
        <p:spPr>
          <a:xfrm>
            <a:off x="1636852" y="91529"/>
            <a:ext cx="360000" cy="36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049DEB"/>
                </a:solidFill>
                <a:latin typeface="Garamond" pitchFamily="18" charset="0"/>
              </a:rPr>
              <a:t>4</a:t>
            </a:r>
            <a:endParaRPr lang="en-US" b="1" dirty="0">
              <a:solidFill>
                <a:srgbClr val="049DEB"/>
              </a:solidFill>
              <a:latin typeface="Garamond" pitchFamily="18" charset="0"/>
            </a:endParaRPr>
          </a:p>
        </p:txBody>
      </p:sp>
      <p:sp>
        <p:nvSpPr>
          <p:cNvPr id="21" name="Oval 17">
            <a:extLst>
              <a:ext uri="{FF2B5EF4-FFF2-40B4-BE49-F238E27FC236}">
                <a16:creationId xmlns:a16="http://schemas.microsoft.com/office/drawing/2014/main" id="{77A1FE28-873E-E259-F6B6-49022FE8BAE2}"/>
              </a:ext>
            </a:extLst>
          </p:cNvPr>
          <p:cNvSpPr/>
          <p:nvPr/>
        </p:nvSpPr>
        <p:spPr>
          <a:xfrm>
            <a:off x="2140298" y="91529"/>
            <a:ext cx="360000" cy="36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00B0F0"/>
                </a:solidFill>
                <a:latin typeface="Garamond" pitchFamily="18" charset="0"/>
              </a:rPr>
              <a:t>5</a:t>
            </a:r>
            <a:endParaRPr lang="en-US" b="1" dirty="0">
              <a:solidFill>
                <a:srgbClr val="00B0F0"/>
              </a:solidFill>
              <a:latin typeface="Garamond" pitchFamily="18" charset="0"/>
            </a:endParaRPr>
          </a:p>
        </p:txBody>
      </p:sp>
      <p:cxnSp>
        <p:nvCxnSpPr>
          <p:cNvPr id="22" name="Connecteur droit 86">
            <a:extLst>
              <a:ext uri="{FF2B5EF4-FFF2-40B4-BE49-F238E27FC236}">
                <a16:creationId xmlns:a16="http://schemas.microsoft.com/office/drawing/2014/main" id="{11718E43-3285-5796-3A39-C8C51957871A}"/>
              </a:ext>
            </a:extLst>
          </p:cNvPr>
          <p:cNvCxnSpPr/>
          <p:nvPr/>
        </p:nvCxnSpPr>
        <p:spPr>
          <a:xfrm>
            <a:off x="3126023" y="61633"/>
            <a:ext cx="0" cy="440695"/>
          </a:xfrm>
          <a:prstGeom prst="line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3" name="Oval 17">
            <a:extLst>
              <a:ext uri="{FF2B5EF4-FFF2-40B4-BE49-F238E27FC236}">
                <a16:creationId xmlns:a16="http://schemas.microsoft.com/office/drawing/2014/main" id="{64784572-F3A1-3374-BCD9-A55748F7A2D4}"/>
              </a:ext>
            </a:extLst>
          </p:cNvPr>
          <p:cNvSpPr/>
          <p:nvPr/>
        </p:nvSpPr>
        <p:spPr>
          <a:xfrm>
            <a:off x="2634936" y="100514"/>
            <a:ext cx="360000" cy="36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00B0F0"/>
                </a:solidFill>
                <a:latin typeface="Garamond" pitchFamily="18" charset="0"/>
              </a:rPr>
              <a:t>6</a:t>
            </a:r>
            <a:endParaRPr lang="en-US" b="1" dirty="0">
              <a:solidFill>
                <a:srgbClr val="00B0F0"/>
              </a:solidFill>
              <a:latin typeface="Garamond" pitchFamily="18" charset="0"/>
            </a:endParaRPr>
          </a:p>
        </p:txBody>
      </p:sp>
      <p:sp>
        <p:nvSpPr>
          <p:cNvPr id="24" name="Chevron 46">
            <a:extLst>
              <a:ext uri="{FF2B5EF4-FFF2-40B4-BE49-F238E27FC236}">
                <a16:creationId xmlns:a16="http://schemas.microsoft.com/office/drawing/2014/main" id="{7EF73B2E-A7BB-F3BF-7172-86F4DE063A54}"/>
              </a:ext>
            </a:extLst>
          </p:cNvPr>
          <p:cNvSpPr/>
          <p:nvPr/>
        </p:nvSpPr>
        <p:spPr>
          <a:xfrm>
            <a:off x="6128657" y="661300"/>
            <a:ext cx="5808239" cy="583240"/>
          </a:xfrm>
          <a:prstGeom prst="chevron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solidFill>
                  <a:schemeClr val="bg1"/>
                </a:solidFill>
                <a:latin typeface="Garamond" charset="0"/>
              </a:rPr>
              <a:t>Contraintes</a:t>
            </a:r>
          </a:p>
        </p:txBody>
      </p:sp>
      <p:sp>
        <p:nvSpPr>
          <p:cNvPr id="25" name="Pentagon 47">
            <a:extLst>
              <a:ext uri="{FF2B5EF4-FFF2-40B4-BE49-F238E27FC236}">
                <a16:creationId xmlns:a16="http://schemas.microsoft.com/office/drawing/2014/main" id="{CC19E646-D1E7-C756-0217-A020F09B6ED0}"/>
              </a:ext>
            </a:extLst>
          </p:cNvPr>
          <p:cNvSpPr/>
          <p:nvPr/>
        </p:nvSpPr>
        <p:spPr>
          <a:xfrm>
            <a:off x="126514" y="674776"/>
            <a:ext cx="6020286" cy="569764"/>
          </a:xfrm>
          <a:prstGeom prst="homePlate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Objectifs</a:t>
            </a:r>
            <a:endParaRPr lang="fr-FR" sz="2400" b="1" dirty="0">
              <a:solidFill>
                <a:schemeClr val="bg1"/>
              </a:solidFill>
              <a:latin typeface="Garamond" charset="0"/>
            </a:endParaRPr>
          </a:p>
        </p:txBody>
      </p:sp>
      <p:sp>
        <p:nvSpPr>
          <p:cNvPr id="26" name="Rectangle 7">
            <a:extLst>
              <a:ext uri="{FF2B5EF4-FFF2-40B4-BE49-F238E27FC236}">
                <a16:creationId xmlns:a16="http://schemas.microsoft.com/office/drawing/2014/main" id="{B8DF3673-1565-0345-C5E1-7D3147A9AE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28675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7" name="Rectangle 10">
            <a:extLst>
              <a:ext uri="{FF2B5EF4-FFF2-40B4-BE49-F238E27FC236}">
                <a16:creationId xmlns:a16="http://schemas.microsoft.com/office/drawing/2014/main" id="{C48EB17C-FEA8-6BA6-49A4-94626A7116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28675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8489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1F2C4-D248-199E-46A3-C0CEE8A16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35DE017-9D41-7A53-6186-83C0614B07EE}"/>
              </a:ext>
            </a:extLst>
          </p:cNvPr>
          <p:cNvSpPr/>
          <p:nvPr/>
        </p:nvSpPr>
        <p:spPr>
          <a:xfrm>
            <a:off x="0" y="6473371"/>
            <a:ext cx="12208932" cy="40127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Garamond" charset="0"/>
                <a:ea typeface="Garamond" charset="0"/>
                <a:cs typeface="Garamond" charset="0"/>
              </a:rPr>
              <a:t>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EF0987-973B-1A50-28E1-B29947E7C486}"/>
              </a:ext>
            </a:extLst>
          </p:cNvPr>
          <p:cNvSpPr/>
          <p:nvPr/>
        </p:nvSpPr>
        <p:spPr>
          <a:xfrm>
            <a:off x="-16932" y="0"/>
            <a:ext cx="12208932" cy="5832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fr-FR" sz="24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  <a:cs typeface="Times New Roman" panose="02020603050405020304" pitchFamily="18" charset="0"/>
              </a:rPr>
              <a:t>Architecture globale</a:t>
            </a:r>
          </a:p>
        </p:txBody>
      </p:sp>
      <p:sp>
        <p:nvSpPr>
          <p:cNvPr id="8" name="Flowchart: Off-page Connector 30">
            <a:extLst>
              <a:ext uri="{FF2B5EF4-FFF2-40B4-BE49-F238E27FC236}">
                <a16:creationId xmlns:a16="http://schemas.microsoft.com/office/drawing/2014/main" id="{E6CABF40-2089-8543-9C37-F34603388BC7}"/>
              </a:ext>
            </a:extLst>
          </p:cNvPr>
          <p:cNvSpPr/>
          <p:nvPr/>
        </p:nvSpPr>
        <p:spPr>
          <a:xfrm>
            <a:off x="11744324" y="11654"/>
            <a:ext cx="365143" cy="537721"/>
          </a:xfrm>
          <a:prstGeom prst="flowChartOffpageConnector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Source Sans Pro" pitchFamily="34" charset="0"/>
              </a:rPr>
              <a:t>11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B86E814-ECAB-7694-74B6-562713FEA7EE}"/>
              </a:ext>
            </a:extLst>
          </p:cNvPr>
          <p:cNvSpPr/>
          <p:nvPr/>
        </p:nvSpPr>
        <p:spPr>
          <a:xfrm>
            <a:off x="126514" y="91529"/>
            <a:ext cx="360000" cy="3600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00B0F0"/>
                </a:solidFill>
                <a:latin typeface="Garamond" pitchFamily="18" charset="0"/>
              </a:rPr>
              <a:t>1</a:t>
            </a:r>
            <a:endParaRPr lang="en-US" b="1" dirty="0">
              <a:solidFill>
                <a:srgbClr val="00B0F0"/>
              </a:solidFill>
              <a:latin typeface="Garamond" pitchFamily="18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B268BE2-1846-9838-B87D-06C53D50FE63}"/>
              </a:ext>
            </a:extLst>
          </p:cNvPr>
          <p:cNvSpPr/>
          <p:nvPr/>
        </p:nvSpPr>
        <p:spPr>
          <a:xfrm>
            <a:off x="629960" y="91529"/>
            <a:ext cx="360000" cy="36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00B0F0"/>
                </a:solidFill>
                <a:latin typeface="Garamond" pitchFamily="18" charset="0"/>
              </a:rPr>
              <a:t>2</a:t>
            </a:r>
            <a:endParaRPr lang="en-US" b="1" dirty="0">
              <a:solidFill>
                <a:srgbClr val="00B0F0"/>
              </a:solidFill>
              <a:latin typeface="Garamond" pitchFamily="18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092868F-0FCB-7E68-7F08-E77C2502E799}"/>
              </a:ext>
            </a:extLst>
          </p:cNvPr>
          <p:cNvSpPr/>
          <p:nvPr/>
        </p:nvSpPr>
        <p:spPr>
          <a:xfrm>
            <a:off x="1133406" y="91529"/>
            <a:ext cx="360000" cy="36000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  <a:latin typeface="Garamond" pitchFamily="18" charset="0"/>
              </a:rPr>
              <a:t>3</a:t>
            </a:r>
            <a:endParaRPr lang="en-US" b="1" dirty="0">
              <a:solidFill>
                <a:schemeClr val="bg1"/>
              </a:solidFill>
              <a:latin typeface="Garamond" pitchFamily="18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0BAD9CC-5DD0-96EC-B9F5-33206020346F}"/>
              </a:ext>
            </a:extLst>
          </p:cNvPr>
          <p:cNvSpPr/>
          <p:nvPr/>
        </p:nvSpPr>
        <p:spPr>
          <a:xfrm>
            <a:off x="1636852" y="91529"/>
            <a:ext cx="360000" cy="36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049DEB"/>
                </a:solidFill>
                <a:latin typeface="Garamond" pitchFamily="18" charset="0"/>
              </a:rPr>
              <a:t>4</a:t>
            </a:r>
            <a:endParaRPr lang="en-US" b="1" dirty="0">
              <a:solidFill>
                <a:srgbClr val="049DEB"/>
              </a:solidFill>
              <a:latin typeface="Garamond" pitchFamily="18" charset="0"/>
            </a:endParaRPr>
          </a:p>
        </p:txBody>
      </p:sp>
      <p:sp>
        <p:nvSpPr>
          <p:cNvPr id="14" name="Oval 17">
            <a:extLst>
              <a:ext uri="{FF2B5EF4-FFF2-40B4-BE49-F238E27FC236}">
                <a16:creationId xmlns:a16="http://schemas.microsoft.com/office/drawing/2014/main" id="{4AA4F7EE-2383-B696-5851-768FDC039731}"/>
              </a:ext>
            </a:extLst>
          </p:cNvPr>
          <p:cNvSpPr/>
          <p:nvPr/>
        </p:nvSpPr>
        <p:spPr>
          <a:xfrm>
            <a:off x="2140298" y="91529"/>
            <a:ext cx="360000" cy="36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00B0F0"/>
                </a:solidFill>
                <a:latin typeface="Garamond" pitchFamily="18" charset="0"/>
              </a:rPr>
              <a:t>5</a:t>
            </a:r>
            <a:endParaRPr lang="en-US" b="1" dirty="0">
              <a:solidFill>
                <a:srgbClr val="00B0F0"/>
              </a:solidFill>
              <a:latin typeface="Garamond" pitchFamily="18" charset="0"/>
            </a:endParaRPr>
          </a:p>
        </p:txBody>
      </p:sp>
      <p:cxnSp>
        <p:nvCxnSpPr>
          <p:cNvPr id="15" name="Connecteur droit 86">
            <a:extLst>
              <a:ext uri="{FF2B5EF4-FFF2-40B4-BE49-F238E27FC236}">
                <a16:creationId xmlns:a16="http://schemas.microsoft.com/office/drawing/2014/main" id="{7AFDB0EB-4AA7-2C7C-3CED-232301B3B0CD}"/>
              </a:ext>
            </a:extLst>
          </p:cNvPr>
          <p:cNvCxnSpPr/>
          <p:nvPr/>
        </p:nvCxnSpPr>
        <p:spPr>
          <a:xfrm>
            <a:off x="3292278" y="61633"/>
            <a:ext cx="0" cy="440695"/>
          </a:xfrm>
          <a:prstGeom prst="line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098" name="Rectangle 2">
            <a:extLst>
              <a:ext uri="{FF2B5EF4-FFF2-40B4-BE49-F238E27FC236}">
                <a16:creationId xmlns:a16="http://schemas.microsoft.com/office/drawing/2014/main" id="{17E0513B-FD67-8447-DF7F-45CA2438EE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1D117263-B0CF-0CD3-EF43-9540BB279D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E44F2C51-9477-03ED-FFDE-A099F434D2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4105" name="Rectangle 9">
            <a:extLst>
              <a:ext uri="{FF2B5EF4-FFF2-40B4-BE49-F238E27FC236}">
                <a16:creationId xmlns:a16="http://schemas.microsoft.com/office/drawing/2014/main" id="{8B0A2668-8652-ECED-A8BC-66D606129E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26" name="Oval 17">
            <a:extLst>
              <a:ext uri="{FF2B5EF4-FFF2-40B4-BE49-F238E27FC236}">
                <a16:creationId xmlns:a16="http://schemas.microsoft.com/office/drawing/2014/main" id="{3AFF3888-AA32-D31A-B621-9B7141E19C92}"/>
              </a:ext>
            </a:extLst>
          </p:cNvPr>
          <p:cNvSpPr/>
          <p:nvPr/>
        </p:nvSpPr>
        <p:spPr>
          <a:xfrm>
            <a:off x="2634936" y="100514"/>
            <a:ext cx="360000" cy="36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00B0F0"/>
                </a:solidFill>
                <a:latin typeface="Garamond" pitchFamily="18" charset="0"/>
              </a:rPr>
              <a:t>6</a:t>
            </a:r>
            <a:endParaRPr lang="en-US" b="1" dirty="0">
              <a:solidFill>
                <a:srgbClr val="00B0F0"/>
              </a:solidFill>
              <a:latin typeface="Garamond" pitchFamily="18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16C4F95-8A69-0A47-D813-7028AC096C14}"/>
              </a:ext>
            </a:extLst>
          </p:cNvPr>
          <p:cNvSpPr txBox="1"/>
          <p:nvPr/>
        </p:nvSpPr>
        <p:spPr>
          <a:xfrm>
            <a:off x="1816852" y="1788202"/>
            <a:ext cx="477109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b="1" dirty="0"/>
              <a:t>ENTRÉES (Capteurs)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dirty="0"/>
              <a:t>2 capteurs ultrason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dirty="0"/>
              <a:t>Distance max détection : 10 cm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dirty="0"/>
              <a:t>3 boutons de contrôle</a:t>
            </a:r>
          </a:p>
          <a:p>
            <a:pPr algn="just"/>
            <a:r>
              <a:rPr lang="fr-FR" b="1" dirty="0"/>
              <a:t>TRAITEMENT (Arduino)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dirty="0"/>
              <a:t>Mesure distance → Comparaison seuils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dirty="0"/>
              <a:t>Décision danger (5cm critique, 10cm limite)</a:t>
            </a:r>
          </a:p>
          <a:p>
            <a:pPr algn="just"/>
            <a:r>
              <a:rPr lang="fr-FR" b="1" dirty="0"/>
              <a:t>SORTIES (Actionneurs)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dirty="0"/>
              <a:t>Buzzer (alerte sonore PWM)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dirty="0"/>
              <a:t>Relais/DEL clignotants (visuels)</a:t>
            </a:r>
          </a:p>
          <a:p>
            <a:pPr algn="just"/>
            <a:r>
              <a:rPr lang="fr-FR" b="1" dirty="0"/>
              <a:t>COMMUNICATION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dirty="0"/>
              <a:t>Port série Arduino ↔ Qt6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dirty="0"/>
              <a:t>Vitesse : 115200 bauds</a:t>
            </a:r>
          </a:p>
        </p:txBody>
      </p:sp>
      <p:sp>
        <p:nvSpPr>
          <p:cNvPr id="3" name="Chevron 46">
            <a:extLst>
              <a:ext uri="{FF2B5EF4-FFF2-40B4-BE49-F238E27FC236}">
                <a16:creationId xmlns:a16="http://schemas.microsoft.com/office/drawing/2014/main" id="{5B5AE491-3AE7-1F73-D9CC-043A6CE228E9}"/>
              </a:ext>
            </a:extLst>
          </p:cNvPr>
          <p:cNvSpPr/>
          <p:nvPr/>
        </p:nvSpPr>
        <p:spPr>
          <a:xfrm>
            <a:off x="6128657" y="661300"/>
            <a:ext cx="5808239" cy="583240"/>
          </a:xfrm>
          <a:prstGeom prst="chevron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>
              <a:lnSpc>
                <a:spcPct val="107000"/>
              </a:lnSpc>
              <a:spcAft>
                <a:spcPts val="800"/>
              </a:spcAft>
              <a:tabLst>
                <a:tab pos="90170" algn="l"/>
              </a:tabLst>
            </a:pPr>
            <a:r>
              <a:rPr lang="fr-FR" sz="2000" b="1" dirty="0">
                <a:solidFill>
                  <a:schemeClr val="bg1"/>
                </a:solidFill>
                <a:latin typeface="Garamond" charset="0"/>
              </a:rPr>
              <a:t>Développement logiciel </a:t>
            </a:r>
          </a:p>
        </p:txBody>
      </p:sp>
      <p:sp>
        <p:nvSpPr>
          <p:cNvPr id="5" name="Pentagon 47">
            <a:extLst>
              <a:ext uri="{FF2B5EF4-FFF2-40B4-BE49-F238E27FC236}">
                <a16:creationId xmlns:a16="http://schemas.microsoft.com/office/drawing/2014/main" id="{91FDC1B0-9FCA-FB6A-3AFC-CE16B965B1C6}"/>
              </a:ext>
            </a:extLst>
          </p:cNvPr>
          <p:cNvSpPr/>
          <p:nvPr/>
        </p:nvSpPr>
        <p:spPr>
          <a:xfrm>
            <a:off x="126514" y="674776"/>
            <a:ext cx="6020286" cy="569764"/>
          </a:xfrm>
          <a:prstGeom prst="homePlate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bg1"/>
                </a:solidFill>
                <a:latin typeface="Garamond" charset="0"/>
              </a:rPr>
              <a:t>Développement matériel </a:t>
            </a: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110265D5-4B41-7C76-FFB0-9C92F63D37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28675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2B8122BB-F3C2-B091-DBC1-BDF06A5280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28675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22" name="Image 21" descr="Une image contenant texte, capture d’écran, diagramme, Police&#10;&#10;Le contenu généré par l’IA peut être incorrect.">
            <a:extLst>
              <a:ext uri="{FF2B5EF4-FFF2-40B4-BE49-F238E27FC236}">
                <a16:creationId xmlns:a16="http://schemas.microsoft.com/office/drawing/2014/main" id="{F73F0868-212C-1C72-CFB0-4492DF841B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7948" y="2068618"/>
            <a:ext cx="4297602" cy="3304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027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6473371"/>
            <a:ext cx="12208932" cy="40127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Garamond" charset="0"/>
                <a:ea typeface="Garamond" charset="0"/>
                <a:cs typeface="Garamond" charset="0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-16932" y="0"/>
            <a:ext cx="12208932" cy="5832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fr-FR" sz="24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  <a:cs typeface="Times New Roman" panose="02020603050405020304" pitchFamily="18" charset="0"/>
              </a:rPr>
              <a:t>Architecture globale</a:t>
            </a:r>
          </a:p>
        </p:txBody>
      </p:sp>
      <p:sp>
        <p:nvSpPr>
          <p:cNvPr id="8" name="Flowchart: Off-page Connector 30"/>
          <p:cNvSpPr/>
          <p:nvPr/>
        </p:nvSpPr>
        <p:spPr>
          <a:xfrm>
            <a:off x="11744324" y="11654"/>
            <a:ext cx="365143" cy="537721"/>
          </a:xfrm>
          <a:prstGeom prst="flowChartOffpageConnector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Source Sans Pro" pitchFamily="34" charset="0"/>
              </a:rPr>
              <a:t>13</a:t>
            </a:r>
          </a:p>
        </p:txBody>
      </p:sp>
      <p:sp>
        <p:nvSpPr>
          <p:cNvPr id="9" name="Oval 8"/>
          <p:cNvSpPr/>
          <p:nvPr/>
        </p:nvSpPr>
        <p:spPr>
          <a:xfrm>
            <a:off x="126514" y="91529"/>
            <a:ext cx="360000" cy="3600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00B0F0"/>
                </a:solidFill>
                <a:latin typeface="Garamond" pitchFamily="18" charset="0"/>
              </a:rPr>
              <a:t>1</a:t>
            </a:r>
            <a:endParaRPr lang="en-US" b="1" dirty="0">
              <a:solidFill>
                <a:srgbClr val="00B0F0"/>
              </a:solidFill>
              <a:latin typeface="Garamond" pitchFamily="18" charset="0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629960" y="91529"/>
            <a:ext cx="360000" cy="36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00B0F0"/>
                </a:solidFill>
                <a:latin typeface="Garamond" pitchFamily="18" charset="0"/>
              </a:rPr>
              <a:t>2</a:t>
            </a:r>
            <a:endParaRPr lang="en-US" b="1" dirty="0">
              <a:solidFill>
                <a:srgbClr val="00B0F0"/>
              </a:solidFill>
              <a:latin typeface="Garamond" pitchFamily="18" charset="0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1133406" y="91529"/>
            <a:ext cx="360000" cy="360000"/>
          </a:xfrm>
          <a:prstGeom prst="ellipse">
            <a:avLst/>
          </a:prstGeom>
          <a:solidFill>
            <a:srgbClr val="049D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  <a:latin typeface="Garamond" pitchFamily="18" charset="0"/>
              </a:rPr>
              <a:t>3</a:t>
            </a:r>
            <a:endParaRPr lang="en-US" b="1" dirty="0">
              <a:solidFill>
                <a:schemeClr val="bg1"/>
              </a:solidFill>
              <a:latin typeface="Garamond" pitchFamily="18" charset="0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1636852" y="91529"/>
            <a:ext cx="360000" cy="36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049DEB"/>
                </a:solidFill>
                <a:latin typeface="Garamond" pitchFamily="18" charset="0"/>
              </a:rPr>
              <a:t>4</a:t>
            </a:r>
            <a:endParaRPr lang="en-US" b="1" dirty="0">
              <a:solidFill>
                <a:srgbClr val="049DEB"/>
              </a:solidFill>
              <a:latin typeface="Garamond" pitchFamily="18" charset="0"/>
            </a:endParaRPr>
          </a:p>
        </p:txBody>
      </p:sp>
      <p:sp>
        <p:nvSpPr>
          <p:cNvPr id="14" name="Oval 17"/>
          <p:cNvSpPr/>
          <p:nvPr/>
        </p:nvSpPr>
        <p:spPr>
          <a:xfrm>
            <a:off x="2140298" y="91529"/>
            <a:ext cx="360000" cy="36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049DEB"/>
                </a:solidFill>
                <a:latin typeface="Garamond" pitchFamily="18" charset="0"/>
              </a:rPr>
              <a:t>5</a:t>
            </a:r>
            <a:endParaRPr lang="en-US" b="1" dirty="0">
              <a:solidFill>
                <a:srgbClr val="049DEB"/>
              </a:solidFill>
              <a:latin typeface="Garamond" pitchFamily="18" charset="0"/>
            </a:endParaRPr>
          </a:p>
        </p:txBody>
      </p:sp>
      <p:cxnSp>
        <p:nvCxnSpPr>
          <p:cNvPr id="15" name="Connecteur droit 86">
            <a:extLst>
              <a:ext uri="{FF2B5EF4-FFF2-40B4-BE49-F238E27FC236}">
                <a16:creationId xmlns:a16="http://schemas.microsoft.com/office/drawing/2014/main" id="{9A81C419-47FA-426F-BF8C-07945B270E9A}"/>
              </a:ext>
            </a:extLst>
          </p:cNvPr>
          <p:cNvCxnSpPr/>
          <p:nvPr/>
        </p:nvCxnSpPr>
        <p:spPr>
          <a:xfrm>
            <a:off x="3292278" y="61633"/>
            <a:ext cx="0" cy="440695"/>
          </a:xfrm>
          <a:prstGeom prst="line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7" name="Oval 17">
            <a:extLst>
              <a:ext uri="{FF2B5EF4-FFF2-40B4-BE49-F238E27FC236}">
                <a16:creationId xmlns:a16="http://schemas.microsoft.com/office/drawing/2014/main" id="{C3CEFF76-C242-4D03-A9FC-8EABA816F77A}"/>
              </a:ext>
            </a:extLst>
          </p:cNvPr>
          <p:cNvSpPr/>
          <p:nvPr/>
        </p:nvSpPr>
        <p:spPr>
          <a:xfrm>
            <a:off x="2634936" y="100514"/>
            <a:ext cx="360000" cy="36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00B0F0"/>
                </a:solidFill>
                <a:latin typeface="Garamond" pitchFamily="18" charset="0"/>
              </a:rPr>
              <a:t>6</a:t>
            </a:r>
            <a:endParaRPr lang="en-US" b="1" dirty="0">
              <a:solidFill>
                <a:srgbClr val="00B0F0"/>
              </a:solidFill>
              <a:latin typeface="Garamond" pitchFamily="18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F475D94-8CEC-8CA4-91E5-E2066248A900}"/>
              </a:ext>
            </a:extLst>
          </p:cNvPr>
          <p:cNvSpPr txBox="1"/>
          <p:nvPr/>
        </p:nvSpPr>
        <p:spPr>
          <a:xfrm>
            <a:off x="809960" y="1617465"/>
            <a:ext cx="616305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COUCHE ARDUINO (Acquisition temps réel)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C/C++ embarqué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Lecture ultrason, boutons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PWM buzzer/relais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Serial output 115200 bauds</a:t>
            </a:r>
          </a:p>
          <a:p>
            <a:r>
              <a:rPr lang="fr-FR" b="1" dirty="0"/>
              <a:t>COUCHE C++ Qt (Traitement)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ArduinoController</a:t>
            </a:r>
            <a:r>
              <a:rPr lang="fr-FR" dirty="0"/>
              <a:t> : réception série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Signaux Qt : </a:t>
            </a:r>
            <a:r>
              <a:rPr lang="fr-FR" dirty="0" err="1"/>
              <a:t>dangerLeft</a:t>
            </a:r>
            <a:r>
              <a:rPr lang="fr-FR" dirty="0"/>
              <a:t>(), </a:t>
            </a:r>
            <a:r>
              <a:rPr lang="fr-FR" dirty="0" err="1"/>
              <a:t>dangerRight</a:t>
            </a:r>
            <a:r>
              <a:rPr lang="fr-FR" dirty="0"/>
              <a:t>(), </a:t>
            </a:r>
            <a:r>
              <a:rPr lang="fr-FR" dirty="0" err="1"/>
              <a:t>clearLeft</a:t>
            </a:r>
            <a:r>
              <a:rPr lang="fr-FR" dirty="0"/>
              <a:t>(), </a:t>
            </a:r>
            <a:r>
              <a:rPr lang="fr-FR" dirty="0" err="1"/>
              <a:t>clearRight</a:t>
            </a:r>
            <a:r>
              <a:rPr lang="fr-FR" dirty="0"/>
              <a:t>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Logique seuils (5cm/10cm)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Communication avec QML via signaux</a:t>
            </a:r>
          </a:p>
          <a:p>
            <a:r>
              <a:rPr lang="fr-FR" b="1" dirty="0"/>
              <a:t>COUCHE QML (Interface 3D)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Visualisation camion 3D (Qt Quick 3D)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Animations fluides (700ms </a:t>
            </a:r>
            <a:r>
              <a:rPr lang="fr-FR" dirty="0" err="1"/>
              <a:t>Easing</a:t>
            </a:r>
            <a:r>
              <a:rPr lang="fr-FR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4 modes rotation : normal / gauche / droite / repos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Alertes visuelles dynamiques</a:t>
            </a:r>
          </a:p>
        </p:txBody>
      </p:sp>
      <p:sp>
        <p:nvSpPr>
          <p:cNvPr id="2" name="Chevron 46">
            <a:extLst>
              <a:ext uri="{FF2B5EF4-FFF2-40B4-BE49-F238E27FC236}">
                <a16:creationId xmlns:a16="http://schemas.microsoft.com/office/drawing/2014/main" id="{70563FCF-135B-9B6F-A4F7-AED04BF58CEB}"/>
              </a:ext>
            </a:extLst>
          </p:cNvPr>
          <p:cNvSpPr/>
          <p:nvPr/>
        </p:nvSpPr>
        <p:spPr>
          <a:xfrm>
            <a:off x="6128657" y="661300"/>
            <a:ext cx="5808239" cy="583240"/>
          </a:xfrm>
          <a:prstGeom prst="chevron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ct val="107000"/>
              </a:lnSpc>
              <a:spcAft>
                <a:spcPts val="800"/>
              </a:spcAft>
              <a:tabLst>
                <a:tab pos="90170" algn="l"/>
              </a:tabLst>
            </a:pPr>
            <a:r>
              <a:rPr lang="fr-FR" sz="2000" b="1" dirty="0">
                <a:solidFill>
                  <a:schemeClr val="bg1"/>
                </a:solidFill>
                <a:latin typeface="Garamond" charset="0"/>
              </a:rPr>
              <a:t>Développement logiciel </a:t>
            </a:r>
          </a:p>
        </p:txBody>
      </p:sp>
      <p:sp>
        <p:nvSpPr>
          <p:cNvPr id="3" name="Pentagon 47">
            <a:extLst>
              <a:ext uri="{FF2B5EF4-FFF2-40B4-BE49-F238E27FC236}">
                <a16:creationId xmlns:a16="http://schemas.microsoft.com/office/drawing/2014/main" id="{C885B394-E34C-0D4D-8ED0-32A93D639C19}"/>
              </a:ext>
            </a:extLst>
          </p:cNvPr>
          <p:cNvSpPr/>
          <p:nvPr/>
        </p:nvSpPr>
        <p:spPr>
          <a:xfrm>
            <a:off x="126514" y="674776"/>
            <a:ext cx="6020286" cy="569764"/>
          </a:xfrm>
          <a:prstGeom prst="homePlate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bg1"/>
                </a:solidFill>
                <a:latin typeface="Garamond" charset="0"/>
              </a:rPr>
              <a:t>Développement matériel </a:t>
            </a: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F94D2BF4-9480-3537-422B-2D60C12FA6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28675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5FAA463E-CC09-FD90-BBD1-8697C7396E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28675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AE0FD391-8423-7A70-A596-DF3BFE96B3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6672" y="1836313"/>
            <a:ext cx="4004060" cy="4086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254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551F7-FC0C-A968-8D59-48930B3A6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 20">
            <a:extLst>
              <a:ext uri="{FF2B5EF4-FFF2-40B4-BE49-F238E27FC236}">
                <a16:creationId xmlns:a16="http://schemas.microsoft.com/office/drawing/2014/main" id="{C044754B-D393-BD9E-0951-B19F5485E4D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2165704" y="1613180"/>
            <a:ext cx="7925906" cy="465837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3065AD0-3DA0-9249-D283-7740A598ACBE}"/>
              </a:ext>
            </a:extLst>
          </p:cNvPr>
          <p:cNvSpPr/>
          <p:nvPr/>
        </p:nvSpPr>
        <p:spPr>
          <a:xfrm>
            <a:off x="0" y="6473371"/>
            <a:ext cx="12208932" cy="40127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Garamond" charset="0"/>
                <a:ea typeface="Garamond" charset="0"/>
                <a:cs typeface="Garamond" charset="0"/>
              </a:rPr>
              <a:t>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C3612A-12DC-C524-CAA3-C26954EB74CD}"/>
              </a:ext>
            </a:extLst>
          </p:cNvPr>
          <p:cNvSpPr/>
          <p:nvPr/>
        </p:nvSpPr>
        <p:spPr>
          <a:xfrm>
            <a:off x="-16932" y="0"/>
            <a:ext cx="12208932" cy="5832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  <a:cs typeface="Times New Roman" panose="02020603050405020304" pitchFamily="18" charset="0"/>
              </a:rPr>
              <a:t>Implémentation</a:t>
            </a:r>
          </a:p>
        </p:txBody>
      </p:sp>
      <p:sp>
        <p:nvSpPr>
          <p:cNvPr id="8" name="Flowchart: Off-page Connector 30">
            <a:extLst>
              <a:ext uri="{FF2B5EF4-FFF2-40B4-BE49-F238E27FC236}">
                <a16:creationId xmlns:a16="http://schemas.microsoft.com/office/drawing/2014/main" id="{B8AFD956-0770-B7C9-8E19-F24235D26A9A}"/>
              </a:ext>
            </a:extLst>
          </p:cNvPr>
          <p:cNvSpPr/>
          <p:nvPr/>
        </p:nvSpPr>
        <p:spPr>
          <a:xfrm>
            <a:off x="11744324" y="11654"/>
            <a:ext cx="365143" cy="537721"/>
          </a:xfrm>
          <a:prstGeom prst="flowChartOffpageConnector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Source Sans Pro" pitchFamily="34" charset="0"/>
              </a:rPr>
              <a:t>14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51E62CB-DA76-E400-0C1F-FB8CA4E44B7E}"/>
              </a:ext>
            </a:extLst>
          </p:cNvPr>
          <p:cNvSpPr/>
          <p:nvPr/>
        </p:nvSpPr>
        <p:spPr>
          <a:xfrm>
            <a:off x="126514" y="91529"/>
            <a:ext cx="360000" cy="3600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00B0F0"/>
                </a:solidFill>
                <a:latin typeface="Garamond" pitchFamily="18" charset="0"/>
              </a:rPr>
              <a:t>1</a:t>
            </a:r>
            <a:endParaRPr lang="en-US" b="1" dirty="0">
              <a:solidFill>
                <a:srgbClr val="00B0F0"/>
              </a:solidFill>
              <a:latin typeface="Garamond" pitchFamily="18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B11830F-E9E8-A82A-79ED-9C245AC68722}"/>
              </a:ext>
            </a:extLst>
          </p:cNvPr>
          <p:cNvSpPr/>
          <p:nvPr/>
        </p:nvSpPr>
        <p:spPr>
          <a:xfrm>
            <a:off x="629960" y="91529"/>
            <a:ext cx="360000" cy="36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00B0F0"/>
                </a:solidFill>
                <a:latin typeface="Garamond" pitchFamily="18" charset="0"/>
              </a:rPr>
              <a:t>2</a:t>
            </a:r>
            <a:endParaRPr lang="en-US" b="1" dirty="0">
              <a:solidFill>
                <a:srgbClr val="00B0F0"/>
              </a:solidFill>
              <a:latin typeface="Garamond" pitchFamily="18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BD9274B-A26D-3D3D-6AF5-428ACBCDEE8E}"/>
              </a:ext>
            </a:extLst>
          </p:cNvPr>
          <p:cNvSpPr/>
          <p:nvPr/>
        </p:nvSpPr>
        <p:spPr>
          <a:xfrm>
            <a:off x="1133406" y="91529"/>
            <a:ext cx="360000" cy="36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00B0F0"/>
                </a:solidFill>
                <a:latin typeface="Garamond" pitchFamily="18" charset="0"/>
              </a:rPr>
              <a:t>3</a:t>
            </a:r>
            <a:endParaRPr lang="en-US" b="1" dirty="0">
              <a:solidFill>
                <a:srgbClr val="00B0F0"/>
              </a:solidFill>
              <a:latin typeface="Garamond" pitchFamily="18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37636C2-747B-6D17-0D47-8742D0364F80}"/>
              </a:ext>
            </a:extLst>
          </p:cNvPr>
          <p:cNvSpPr/>
          <p:nvPr/>
        </p:nvSpPr>
        <p:spPr>
          <a:xfrm>
            <a:off x="1636852" y="91529"/>
            <a:ext cx="360000" cy="360000"/>
          </a:xfrm>
          <a:prstGeom prst="ellipse">
            <a:avLst/>
          </a:prstGeom>
          <a:solidFill>
            <a:srgbClr val="049D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  <a:latin typeface="Garamond" pitchFamily="18" charset="0"/>
              </a:rPr>
              <a:t>4</a:t>
            </a:r>
            <a:endParaRPr lang="en-US" b="1" dirty="0">
              <a:solidFill>
                <a:schemeClr val="bg1"/>
              </a:solidFill>
              <a:latin typeface="Garamond" pitchFamily="18" charset="0"/>
            </a:endParaRPr>
          </a:p>
        </p:txBody>
      </p:sp>
      <p:sp>
        <p:nvSpPr>
          <p:cNvPr id="14" name="Oval 17">
            <a:extLst>
              <a:ext uri="{FF2B5EF4-FFF2-40B4-BE49-F238E27FC236}">
                <a16:creationId xmlns:a16="http://schemas.microsoft.com/office/drawing/2014/main" id="{8D4C1149-8C7F-94AF-47FA-90DEB7C1E529}"/>
              </a:ext>
            </a:extLst>
          </p:cNvPr>
          <p:cNvSpPr/>
          <p:nvPr/>
        </p:nvSpPr>
        <p:spPr>
          <a:xfrm>
            <a:off x="2140298" y="91529"/>
            <a:ext cx="360000" cy="36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00B0F0"/>
                </a:solidFill>
                <a:latin typeface="Garamond" pitchFamily="18" charset="0"/>
              </a:rPr>
              <a:t>5</a:t>
            </a:r>
            <a:endParaRPr lang="en-US" b="1" dirty="0">
              <a:solidFill>
                <a:srgbClr val="00B0F0"/>
              </a:solidFill>
              <a:latin typeface="Garamond" pitchFamily="18" charset="0"/>
            </a:endParaRPr>
          </a:p>
        </p:txBody>
      </p:sp>
      <p:cxnSp>
        <p:nvCxnSpPr>
          <p:cNvPr id="15" name="Connecteur droit 86">
            <a:extLst>
              <a:ext uri="{FF2B5EF4-FFF2-40B4-BE49-F238E27FC236}">
                <a16:creationId xmlns:a16="http://schemas.microsoft.com/office/drawing/2014/main" id="{7C73BAAA-3B7E-758B-CB3C-8ADDA2A779D4}"/>
              </a:ext>
            </a:extLst>
          </p:cNvPr>
          <p:cNvCxnSpPr/>
          <p:nvPr/>
        </p:nvCxnSpPr>
        <p:spPr>
          <a:xfrm>
            <a:off x="3292278" y="61633"/>
            <a:ext cx="0" cy="440695"/>
          </a:xfrm>
          <a:prstGeom prst="line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Oval 17">
            <a:extLst>
              <a:ext uri="{FF2B5EF4-FFF2-40B4-BE49-F238E27FC236}">
                <a16:creationId xmlns:a16="http://schemas.microsoft.com/office/drawing/2014/main" id="{946E9805-602C-499B-C9D5-DB46887E7D60}"/>
              </a:ext>
            </a:extLst>
          </p:cNvPr>
          <p:cNvSpPr/>
          <p:nvPr/>
        </p:nvSpPr>
        <p:spPr>
          <a:xfrm>
            <a:off x="2634936" y="100514"/>
            <a:ext cx="360000" cy="36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00B0F0"/>
                </a:solidFill>
                <a:latin typeface="Garamond" pitchFamily="18" charset="0"/>
              </a:rPr>
              <a:t>6</a:t>
            </a:r>
            <a:endParaRPr lang="en-US" b="1" dirty="0">
              <a:solidFill>
                <a:srgbClr val="00B0F0"/>
              </a:solidFill>
              <a:latin typeface="Garamond" pitchFamily="18" charset="0"/>
            </a:endParaRPr>
          </a:p>
        </p:txBody>
      </p:sp>
      <p:sp>
        <p:nvSpPr>
          <p:cNvPr id="2" name="Chevron 46">
            <a:extLst>
              <a:ext uri="{FF2B5EF4-FFF2-40B4-BE49-F238E27FC236}">
                <a16:creationId xmlns:a16="http://schemas.microsoft.com/office/drawing/2014/main" id="{8A56C2F9-BB17-3BF8-0CB3-D4F253F0576E}"/>
              </a:ext>
            </a:extLst>
          </p:cNvPr>
          <p:cNvSpPr/>
          <p:nvPr/>
        </p:nvSpPr>
        <p:spPr>
          <a:xfrm>
            <a:off x="6128657" y="661300"/>
            <a:ext cx="5808239" cy="583240"/>
          </a:xfrm>
          <a:prstGeom prst="chevron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solidFill>
                  <a:schemeClr val="bg1"/>
                </a:solidFill>
                <a:latin typeface="Garamond" charset="0"/>
              </a:rPr>
              <a:t>Réalisation logicielle </a:t>
            </a:r>
          </a:p>
        </p:txBody>
      </p:sp>
      <p:sp>
        <p:nvSpPr>
          <p:cNvPr id="5" name="Pentagon 47">
            <a:extLst>
              <a:ext uri="{FF2B5EF4-FFF2-40B4-BE49-F238E27FC236}">
                <a16:creationId xmlns:a16="http://schemas.microsoft.com/office/drawing/2014/main" id="{E6555D36-DF5E-E847-A8E0-35FF33F636EF}"/>
              </a:ext>
            </a:extLst>
          </p:cNvPr>
          <p:cNvSpPr/>
          <p:nvPr/>
        </p:nvSpPr>
        <p:spPr>
          <a:xfrm>
            <a:off x="126514" y="674776"/>
            <a:ext cx="6020286" cy="569764"/>
          </a:xfrm>
          <a:prstGeom prst="homePlate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bg1"/>
                </a:solidFill>
                <a:latin typeface="Garamond" charset="0"/>
              </a:rPr>
              <a:t>Réalisation matérielle </a:t>
            </a:r>
          </a:p>
        </p:txBody>
      </p:sp>
      <p:sp>
        <p:nvSpPr>
          <p:cNvPr id="18" name="Rectangle 7">
            <a:extLst>
              <a:ext uri="{FF2B5EF4-FFF2-40B4-BE49-F238E27FC236}">
                <a16:creationId xmlns:a16="http://schemas.microsoft.com/office/drawing/2014/main" id="{B9200889-4EED-16F8-36FD-E6FD09AA9D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28675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Rectangle 10">
            <a:extLst>
              <a:ext uri="{FF2B5EF4-FFF2-40B4-BE49-F238E27FC236}">
                <a16:creationId xmlns:a16="http://schemas.microsoft.com/office/drawing/2014/main" id="{11987E26-07D3-D352-E447-0D3A42E2F0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28675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399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 20">
            <a:extLst>
              <a:ext uri="{FF2B5EF4-FFF2-40B4-BE49-F238E27FC236}">
                <a16:creationId xmlns:a16="http://schemas.microsoft.com/office/drawing/2014/main" id="{A974C240-0E0C-2098-0EEB-155E0BDB149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2165704" y="1613180"/>
            <a:ext cx="7925906" cy="465837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73371"/>
            <a:ext cx="12208932" cy="40127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Garamond" charset="0"/>
                <a:ea typeface="Garamond" charset="0"/>
                <a:cs typeface="Garamond" charset="0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-16932" y="0"/>
            <a:ext cx="12208932" cy="5832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  <a:cs typeface="Times New Roman" panose="02020603050405020304" pitchFamily="18" charset="0"/>
              </a:rPr>
              <a:t>Implémentation</a:t>
            </a:r>
          </a:p>
        </p:txBody>
      </p:sp>
      <p:sp>
        <p:nvSpPr>
          <p:cNvPr id="8" name="Flowchart: Off-page Connector 30"/>
          <p:cNvSpPr/>
          <p:nvPr/>
        </p:nvSpPr>
        <p:spPr>
          <a:xfrm>
            <a:off x="11744324" y="11654"/>
            <a:ext cx="365143" cy="537721"/>
          </a:xfrm>
          <a:prstGeom prst="flowChartOffpageConnector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Source Sans Pro" pitchFamily="34" charset="0"/>
              </a:rPr>
              <a:t>14</a:t>
            </a:r>
          </a:p>
        </p:txBody>
      </p:sp>
      <p:sp>
        <p:nvSpPr>
          <p:cNvPr id="9" name="Oval 8"/>
          <p:cNvSpPr/>
          <p:nvPr/>
        </p:nvSpPr>
        <p:spPr>
          <a:xfrm>
            <a:off x="126514" y="91529"/>
            <a:ext cx="360000" cy="3600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00B0F0"/>
                </a:solidFill>
                <a:latin typeface="Garamond" pitchFamily="18" charset="0"/>
              </a:rPr>
              <a:t>1</a:t>
            </a:r>
            <a:endParaRPr lang="en-US" b="1" dirty="0">
              <a:solidFill>
                <a:srgbClr val="00B0F0"/>
              </a:solidFill>
              <a:latin typeface="Garamond" pitchFamily="18" charset="0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629960" y="91529"/>
            <a:ext cx="360000" cy="36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00B0F0"/>
                </a:solidFill>
                <a:latin typeface="Garamond" pitchFamily="18" charset="0"/>
              </a:rPr>
              <a:t>2</a:t>
            </a:r>
            <a:endParaRPr lang="en-US" b="1" dirty="0">
              <a:solidFill>
                <a:srgbClr val="00B0F0"/>
              </a:solidFill>
              <a:latin typeface="Garamond" pitchFamily="18" charset="0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1133406" y="91529"/>
            <a:ext cx="360000" cy="36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00B0F0"/>
                </a:solidFill>
                <a:latin typeface="Garamond" pitchFamily="18" charset="0"/>
              </a:rPr>
              <a:t>3</a:t>
            </a:r>
            <a:endParaRPr lang="en-US" b="1" dirty="0">
              <a:solidFill>
                <a:srgbClr val="00B0F0"/>
              </a:solidFill>
              <a:latin typeface="Garamond" pitchFamily="18" charset="0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1636852" y="91529"/>
            <a:ext cx="360000" cy="360000"/>
          </a:xfrm>
          <a:prstGeom prst="ellipse">
            <a:avLst/>
          </a:prstGeom>
          <a:solidFill>
            <a:srgbClr val="049D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  <a:latin typeface="Garamond" pitchFamily="18" charset="0"/>
              </a:rPr>
              <a:t>4</a:t>
            </a:r>
            <a:endParaRPr lang="en-US" b="1" dirty="0">
              <a:solidFill>
                <a:schemeClr val="bg1"/>
              </a:solidFill>
              <a:latin typeface="Garamond" pitchFamily="18" charset="0"/>
            </a:endParaRPr>
          </a:p>
        </p:txBody>
      </p:sp>
      <p:sp>
        <p:nvSpPr>
          <p:cNvPr id="14" name="Oval 17"/>
          <p:cNvSpPr/>
          <p:nvPr/>
        </p:nvSpPr>
        <p:spPr>
          <a:xfrm>
            <a:off x="2140298" y="91529"/>
            <a:ext cx="360000" cy="36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00B0F0"/>
                </a:solidFill>
                <a:latin typeface="Garamond" pitchFamily="18" charset="0"/>
              </a:rPr>
              <a:t>5</a:t>
            </a:r>
            <a:endParaRPr lang="en-US" b="1" dirty="0">
              <a:solidFill>
                <a:srgbClr val="00B0F0"/>
              </a:solidFill>
              <a:latin typeface="Garamond" pitchFamily="18" charset="0"/>
            </a:endParaRPr>
          </a:p>
        </p:txBody>
      </p:sp>
      <p:cxnSp>
        <p:nvCxnSpPr>
          <p:cNvPr id="15" name="Connecteur droit 86">
            <a:extLst>
              <a:ext uri="{FF2B5EF4-FFF2-40B4-BE49-F238E27FC236}">
                <a16:creationId xmlns:a16="http://schemas.microsoft.com/office/drawing/2014/main" id="{9A81C419-47FA-426F-BF8C-07945B270E9A}"/>
              </a:ext>
            </a:extLst>
          </p:cNvPr>
          <p:cNvCxnSpPr/>
          <p:nvPr/>
        </p:nvCxnSpPr>
        <p:spPr>
          <a:xfrm>
            <a:off x="3292278" y="61633"/>
            <a:ext cx="0" cy="440695"/>
          </a:xfrm>
          <a:prstGeom prst="line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Oval 17">
            <a:extLst>
              <a:ext uri="{FF2B5EF4-FFF2-40B4-BE49-F238E27FC236}">
                <a16:creationId xmlns:a16="http://schemas.microsoft.com/office/drawing/2014/main" id="{C3CEFF76-C242-4D03-A9FC-8EABA816F77A}"/>
              </a:ext>
            </a:extLst>
          </p:cNvPr>
          <p:cNvSpPr/>
          <p:nvPr/>
        </p:nvSpPr>
        <p:spPr>
          <a:xfrm>
            <a:off x="2634936" y="100514"/>
            <a:ext cx="360000" cy="36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00B0F0"/>
                </a:solidFill>
                <a:latin typeface="Garamond" pitchFamily="18" charset="0"/>
              </a:rPr>
              <a:t>6</a:t>
            </a:r>
            <a:endParaRPr lang="en-US" b="1" dirty="0">
              <a:solidFill>
                <a:srgbClr val="00B0F0"/>
              </a:solidFill>
              <a:latin typeface="Garamond" pitchFamily="18" charset="0"/>
            </a:endParaRPr>
          </a:p>
        </p:txBody>
      </p:sp>
      <p:sp>
        <p:nvSpPr>
          <p:cNvPr id="2" name="Chevron 46">
            <a:extLst>
              <a:ext uri="{FF2B5EF4-FFF2-40B4-BE49-F238E27FC236}">
                <a16:creationId xmlns:a16="http://schemas.microsoft.com/office/drawing/2014/main" id="{CAF836E7-3375-9B33-FB69-2A9906004628}"/>
              </a:ext>
            </a:extLst>
          </p:cNvPr>
          <p:cNvSpPr/>
          <p:nvPr/>
        </p:nvSpPr>
        <p:spPr>
          <a:xfrm>
            <a:off x="6128657" y="661300"/>
            <a:ext cx="5808239" cy="583240"/>
          </a:xfrm>
          <a:prstGeom prst="chevron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solidFill>
                  <a:schemeClr val="bg1"/>
                </a:solidFill>
                <a:latin typeface="Garamond" charset="0"/>
              </a:rPr>
              <a:t>Réalisation logicielle </a:t>
            </a:r>
          </a:p>
        </p:txBody>
      </p:sp>
      <p:sp>
        <p:nvSpPr>
          <p:cNvPr id="5" name="Pentagon 47">
            <a:extLst>
              <a:ext uri="{FF2B5EF4-FFF2-40B4-BE49-F238E27FC236}">
                <a16:creationId xmlns:a16="http://schemas.microsoft.com/office/drawing/2014/main" id="{6E0AAE29-BEDB-36C2-35DB-D8CD8D4E56E1}"/>
              </a:ext>
            </a:extLst>
          </p:cNvPr>
          <p:cNvSpPr/>
          <p:nvPr/>
        </p:nvSpPr>
        <p:spPr>
          <a:xfrm>
            <a:off x="126514" y="674776"/>
            <a:ext cx="6020286" cy="569764"/>
          </a:xfrm>
          <a:prstGeom prst="homePlate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bg1"/>
                </a:solidFill>
                <a:latin typeface="Garamond" charset="0"/>
              </a:rPr>
              <a:t>Réalisation matérielle </a:t>
            </a:r>
          </a:p>
        </p:txBody>
      </p:sp>
      <p:sp>
        <p:nvSpPr>
          <p:cNvPr id="18" name="Rectangle 7">
            <a:extLst>
              <a:ext uri="{FF2B5EF4-FFF2-40B4-BE49-F238E27FC236}">
                <a16:creationId xmlns:a16="http://schemas.microsoft.com/office/drawing/2014/main" id="{FAF2B268-F166-7192-111E-D8D33F2DBF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28675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Rectangle 10">
            <a:extLst>
              <a:ext uri="{FF2B5EF4-FFF2-40B4-BE49-F238E27FC236}">
                <a16:creationId xmlns:a16="http://schemas.microsoft.com/office/drawing/2014/main" id="{C2D813C7-BCB8-5875-25C9-02B1D0EAAB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28675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5285B02E-8BEC-BF63-1719-F39467A494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7043" y="1819630"/>
            <a:ext cx="2831465" cy="3425190"/>
          </a:xfrm>
          <a:prstGeom prst="rect">
            <a:avLst/>
          </a:prstGeom>
        </p:spPr>
      </p:pic>
      <p:pic>
        <p:nvPicPr>
          <p:cNvPr id="23" name="Image 22">
            <a:extLst>
              <a:ext uri="{FF2B5EF4-FFF2-40B4-BE49-F238E27FC236}">
                <a16:creationId xmlns:a16="http://schemas.microsoft.com/office/drawing/2014/main" id="{A852AE89-DF18-C46E-84D2-C90DDFB250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960" y="2085377"/>
            <a:ext cx="5760720" cy="2893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254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B198D-0F2A-9E59-491B-693BB9BFB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 20">
            <a:extLst>
              <a:ext uri="{FF2B5EF4-FFF2-40B4-BE49-F238E27FC236}">
                <a16:creationId xmlns:a16="http://schemas.microsoft.com/office/drawing/2014/main" id="{223EF1DD-29D5-6980-E623-66F73CC35BA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2165704" y="1613180"/>
            <a:ext cx="7925906" cy="465837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9B30597-7C6F-DA03-5A8A-2DD3C9F5D142}"/>
              </a:ext>
            </a:extLst>
          </p:cNvPr>
          <p:cNvSpPr/>
          <p:nvPr/>
        </p:nvSpPr>
        <p:spPr>
          <a:xfrm>
            <a:off x="0" y="6473371"/>
            <a:ext cx="12208932" cy="40127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Garamond" charset="0"/>
                <a:ea typeface="Garamond" charset="0"/>
                <a:cs typeface="Garamond" charset="0"/>
              </a:rPr>
              <a:t>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26952E-2E6B-4CC3-C596-D07B7B8FC5A0}"/>
              </a:ext>
            </a:extLst>
          </p:cNvPr>
          <p:cNvSpPr/>
          <p:nvPr/>
        </p:nvSpPr>
        <p:spPr>
          <a:xfrm>
            <a:off x="-16932" y="0"/>
            <a:ext cx="12208932" cy="5832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  <a:cs typeface="Times New Roman" panose="02020603050405020304" pitchFamily="18" charset="0"/>
              </a:rPr>
              <a:t>Implémentation</a:t>
            </a:r>
          </a:p>
        </p:txBody>
      </p:sp>
      <p:sp>
        <p:nvSpPr>
          <p:cNvPr id="8" name="Flowchart: Off-page Connector 30">
            <a:extLst>
              <a:ext uri="{FF2B5EF4-FFF2-40B4-BE49-F238E27FC236}">
                <a16:creationId xmlns:a16="http://schemas.microsoft.com/office/drawing/2014/main" id="{8CA983EC-93D3-26A3-00AE-43D214C6023B}"/>
              </a:ext>
            </a:extLst>
          </p:cNvPr>
          <p:cNvSpPr/>
          <p:nvPr/>
        </p:nvSpPr>
        <p:spPr>
          <a:xfrm>
            <a:off x="11744324" y="11654"/>
            <a:ext cx="365143" cy="537721"/>
          </a:xfrm>
          <a:prstGeom prst="flowChartOffpageConnector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Source Sans Pro" pitchFamily="34" charset="0"/>
              </a:rPr>
              <a:t>14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F21238B-D9F5-5575-A4AB-3796DCD49BE5}"/>
              </a:ext>
            </a:extLst>
          </p:cNvPr>
          <p:cNvSpPr/>
          <p:nvPr/>
        </p:nvSpPr>
        <p:spPr>
          <a:xfrm>
            <a:off x="126514" y="91529"/>
            <a:ext cx="360000" cy="3600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00B0F0"/>
                </a:solidFill>
                <a:latin typeface="Garamond" pitchFamily="18" charset="0"/>
              </a:rPr>
              <a:t>1</a:t>
            </a:r>
            <a:endParaRPr lang="en-US" b="1" dirty="0">
              <a:solidFill>
                <a:srgbClr val="00B0F0"/>
              </a:solidFill>
              <a:latin typeface="Garamond" pitchFamily="18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1DA1334-297E-89CB-0123-556A005D0617}"/>
              </a:ext>
            </a:extLst>
          </p:cNvPr>
          <p:cNvSpPr/>
          <p:nvPr/>
        </p:nvSpPr>
        <p:spPr>
          <a:xfrm>
            <a:off x="629960" y="91529"/>
            <a:ext cx="360000" cy="36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00B0F0"/>
                </a:solidFill>
                <a:latin typeface="Garamond" pitchFamily="18" charset="0"/>
              </a:rPr>
              <a:t>2</a:t>
            </a:r>
            <a:endParaRPr lang="en-US" b="1" dirty="0">
              <a:solidFill>
                <a:srgbClr val="00B0F0"/>
              </a:solidFill>
              <a:latin typeface="Garamond" pitchFamily="18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18FFA17-55AE-C09B-92DE-2432DBDA6405}"/>
              </a:ext>
            </a:extLst>
          </p:cNvPr>
          <p:cNvSpPr/>
          <p:nvPr/>
        </p:nvSpPr>
        <p:spPr>
          <a:xfrm>
            <a:off x="1133406" y="91529"/>
            <a:ext cx="360000" cy="36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00B0F0"/>
                </a:solidFill>
                <a:latin typeface="Garamond" pitchFamily="18" charset="0"/>
              </a:rPr>
              <a:t>3</a:t>
            </a:r>
            <a:endParaRPr lang="en-US" b="1" dirty="0">
              <a:solidFill>
                <a:srgbClr val="00B0F0"/>
              </a:solidFill>
              <a:latin typeface="Garamond" pitchFamily="18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69D706F-57A4-DCEC-F19D-2A0A15ACFDFF}"/>
              </a:ext>
            </a:extLst>
          </p:cNvPr>
          <p:cNvSpPr/>
          <p:nvPr/>
        </p:nvSpPr>
        <p:spPr>
          <a:xfrm>
            <a:off x="1636852" y="91529"/>
            <a:ext cx="360000" cy="360000"/>
          </a:xfrm>
          <a:prstGeom prst="ellipse">
            <a:avLst/>
          </a:prstGeom>
          <a:solidFill>
            <a:srgbClr val="049D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  <a:latin typeface="Garamond" pitchFamily="18" charset="0"/>
              </a:rPr>
              <a:t>4</a:t>
            </a:r>
            <a:endParaRPr lang="en-US" b="1" dirty="0">
              <a:solidFill>
                <a:schemeClr val="bg1"/>
              </a:solidFill>
              <a:latin typeface="Garamond" pitchFamily="18" charset="0"/>
            </a:endParaRPr>
          </a:p>
        </p:txBody>
      </p:sp>
      <p:sp>
        <p:nvSpPr>
          <p:cNvPr id="14" name="Oval 17">
            <a:extLst>
              <a:ext uri="{FF2B5EF4-FFF2-40B4-BE49-F238E27FC236}">
                <a16:creationId xmlns:a16="http://schemas.microsoft.com/office/drawing/2014/main" id="{34587D8D-03CF-E698-40C4-23E639F08EA7}"/>
              </a:ext>
            </a:extLst>
          </p:cNvPr>
          <p:cNvSpPr/>
          <p:nvPr/>
        </p:nvSpPr>
        <p:spPr>
          <a:xfrm>
            <a:off x="2140298" y="91529"/>
            <a:ext cx="360000" cy="36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00B0F0"/>
                </a:solidFill>
                <a:latin typeface="Garamond" pitchFamily="18" charset="0"/>
              </a:rPr>
              <a:t>5</a:t>
            </a:r>
            <a:endParaRPr lang="en-US" b="1" dirty="0">
              <a:solidFill>
                <a:srgbClr val="00B0F0"/>
              </a:solidFill>
              <a:latin typeface="Garamond" pitchFamily="18" charset="0"/>
            </a:endParaRPr>
          </a:p>
        </p:txBody>
      </p:sp>
      <p:cxnSp>
        <p:nvCxnSpPr>
          <p:cNvPr id="15" name="Connecteur droit 86">
            <a:extLst>
              <a:ext uri="{FF2B5EF4-FFF2-40B4-BE49-F238E27FC236}">
                <a16:creationId xmlns:a16="http://schemas.microsoft.com/office/drawing/2014/main" id="{A0684CA9-22C1-5996-BE3D-5FCC732C35CA}"/>
              </a:ext>
            </a:extLst>
          </p:cNvPr>
          <p:cNvCxnSpPr/>
          <p:nvPr/>
        </p:nvCxnSpPr>
        <p:spPr>
          <a:xfrm>
            <a:off x="3292278" y="61633"/>
            <a:ext cx="0" cy="440695"/>
          </a:xfrm>
          <a:prstGeom prst="line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Oval 17">
            <a:extLst>
              <a:ext uri="{FF2B5EF4-FFF2-40B4-BE49-F238E27FC236}">
                <a16:creationId xmlns:a16="http://schemas.microsoft.com/office/drawing/2014/main" id="{5F03D58D-403A-7A1D-D2A3-D0633798DF2E}"/>
              </a:ext>
            </a:extLst>
          </p:cNvPr>
          <p:cNvSpPr/>
          <p:nvPr/>
        </p:nvSpPr>
        <p:spPr>
          <a:xfrm>
            <a:off x="2634936" y="100514"/>
            <a:ext cx="360000" cy="36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00B0F0"/>
                </a:solidFill>
                <a:latin typeface="Garamond" pitchFamily="18" charset="0"/>
              </a:rPr>
              <a:t>6</a:t>
            </a:r>
            <a:endParaRPr lang="en-US" b="1" dirty="0">
              <a:solidFill>
                <a:srgbClr val="00B0F0"/>
              </a:solidFill>
              <a:latin typeface="Garamond" pitchFamily="18" charset="0"/>
            </a:endParaRPr>
          </a:p>
        </p:txBody>
      </p:sp>
      <p:sp>
        <p:nvSpPr>
          <p:cNvPr id="2" name="Chevron 46">
            <a:extLst>
              <a:ext uri="{FF2B5EF4-FFF2-40B4-BE49-F238E27FC236}">
                <a16:creationId xmlns:a16="http://schemas.microsoft.com/office/drawing/2014/main" id="{99EA8826-5184-DCF9-B29A-6F54E4D26927}"/>
              </a:ext>
            </a:extLst>
          </p:cNvPr>
          <p:cNvSpPr/>
          <p:nvPr/>
        </p:nvSpPr>
        <p:spPr>
          <a:xfrm>
            <a:off x="6128657" y="661300"/>
            <a:ext cx="5808239" cy="583240"/>
          </a:xfrm>
          <a:prstGeom prst="chevron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solidFill>
                  <a:schemeClr val="bg1"/>
                </a:solidFill>
                <a:latin typeface="Garamond" charset="0"/>
              </a:rPr>
              <a:t>Réalisation logicielle </a:t>
            </a:r>
          </a:p>
        </p:txBody>
      </p:sp>
      <p:sp>
        <p:nvSpPr>
          <p:cNvPr id="5" name="Pentagon 47">
            <a:extLst>
              <a:ext uri="{FF2B5EF4-FFF2-40B4-BE49-F238E27FC236}">
                <a16:creationId xmlns:a16="http://schemas.microsoft.com/office/drawing/2014/main" id="{12517872-6E8C-0780-ACF5-E64B1B2EF923}"/>
              </a:ext>
            </a:extLst>
          </p:cNvPr>
          <p:cNvSpPr/>
          <p:nvPr/>
        </p:nvSpPr>
        <p:spPr>
          <a:xfrm>
            <a:off x="126514" y="674776"/>
            <a:ext cx="6020286" cy="569764"/>
          </a:xfrm>
          <a:prstGeom prst="homePlate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bg1"/>
                </a:solidFill>
                <a:latin typeface="Garamond" charset="0"/>
              </a:rPr>
              <a:t>Réalisation matérielle </a:t>
            </a:r>
          </a:p>
        </p:txBody>
      </p:sp>
      <p:sp>
        <p:nvSpPr>
          <p:cNvPr id="18" name="Rectangle 7">
            <a:extLst>
              <a:ext uri="{FF2B5EF4-FFF2-40B4-BE49-F238E27FC236}">
                <a16:creationId xmlns:a16="http://schemas.microsoft.com/office/drawing/2014/main" id="{F3D670E8-359A-7FC1-EB09-596AA9C553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28675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Rectangle 10">
            <a:extLst>
              <a:ext uri="{FF2B5EF4-FFF2-40B4-BE49-F238E27FC236}">
                <a16:creationId xmlns:a16="http://schemas.microsoft.com/office/drawing/2014/main" id="{C6694E60-120A-5F86-FFE2-27768B44D2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28675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7A02C93A-7BAD-7219-3A5D-39C37B0E4B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3025" y="1270897"/>
            <a:ext cx="2474048" cy="2992827"/>
          </a:xfrm>
          <a:prstGeom prst="rect">
            <a:avLst/>
          </a:prstGeom>
        </p:spPr>
      </p:pic>
      <p:pic>
        <p:nvPicPr>
          <p:cNvPr id="23" name="Image 22">
            <a:extLst>
              <a:ext uri="{FF2B5EF4-FFF2-40B4-BE49-F238E27FC236}">
                <a16:creationId xmlns:a16="http://schemas.microsoft.com/office/drawing/2014/main" id="{BD4AB93D-5094-60DA-5095-BFCC95E101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9168" y="4271865"/>
            <a:ext cx="4306440" cy="2163188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8998EC46-A8AD-3A21-6CB1-E890D19F0ACE}"/>
              </a:ext>
            </a:extLst>
          </p:cNvPr>
          <p:cNvSpPr txBox="1"/>
          <p:nvPr/>
        </p:nvSpPr>
        <p:spPr>
          <a:xfrm>
            <a:off x="629960" y="2234207"/>
            <a:ext cx="725898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L'Arduino est le contrôleur central. Il fait 3 choses :</a:t>
            </a:r>
          </a:p>
          <a:p>
            <a:r>
              <a:rPr lang="fr-FR" b="1" dirty="0"/>
              <a:t>LECTEUR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2 capteurs ultrason (gauche/droite) - GPIO 6,7,8,9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3 boutons de contrôle - GPIO 2,3,4</a:t>
            </a:r>
          </a:p>
          <a:p>
            <a:r>
              <a:rPr lang="fr-FR" b="1" dirty="0"/>
              <a:t>TRAITEMENT</a:t>
            </a:r>
          </a:p>
          <a:p>
            <a:r>
              <a:rPr lang="fr-FR" dirty="0"/>
              <a:t>Mesure distance en 80 millisecondes (cycle temps réel)</a:t>
            </a:r>
          </a:p>
          <a:p>
            <a:r>
              <a:rPr lang="fr-FR" dirty="0"/>
              <a:t>Compare : 5cm (critique) et 10cm (limite)</a:t>
            </a:r>
          </a:p>
          <a:p>
            <a:r>
              <a:rPr lang="fr-FR" b="1" dirty="0"/>
              <a:t>ACTIONNEURS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Buzzer alerte sonore - GPIO 10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Relais DEL clignotantes - GPIO 11,12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Communication série 115200 bauds vers Qt.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Format simple : 'DANGER LEFT', 'CLEAR RIGHT', etc.</a:t>
            </a:r>
          </a:p>
        </p:txBody>
      </p:sp>
    </p:spTree>
    <p:extLst>
      <p:ext uri="{BB962C8B-B14F-4D97-AF65-F5344CB8AC3E}">
        <p14:creationId xmlns:p14="http://schemas.microsoft.com/office/powerpoint/2010/main" val="3960052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9F1D4-D9AE-1171-0738-979611E58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 20">
            <a:extLst>
              <a:ext uri="{FF2B5EF4-FFF2-40B4-BE49-F238E27FC236}">
                <a16:creationId xmlns:a16="http://schemas.microsoft.com/office/drawing/2014/main" id="{25E21A14-B9E7-4A32-48C1-3F04E0C44B5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2165704" y="1613180"/>
            <a:ext cx="7925906" cy="465837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11F59C1-311F-E8BC-2407-2086B56717FC}"/>
              </a:ext>
            </a:extLst>
          </p:cNvPr>
          <p:cNvSpPr/>
          <p:nvPr/>
        </p:nvSpPr>
        <p:spPr>
          <a:xfrm>
            <a:off x="0" y="6473371"/>
            <a:ext cx="12208932" cy="40127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Garamond" charset="0"/>
                <a:ea typeface="Garamond" charset="0"/>
                <a:cs typeface="Garamond" charset="0"/>
              </a:rPr>
              <a:t>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1772300-2A05-0C6A-D7D9-7D67236840D7}"/>
              </a:ext>
            </a:extLst>
          </p:cNvPr>
          <p:cNvSpPr/>
          <p:nvPr/>
        </p:nvSpPr>
        <p:spPr>
          <a:xfrm>
            <a:off x="-16932" y="0"/>
            <a:ext cx="12208932" cy="5832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  <a:cs typeface="Times New Roman" panose="02020603050405020304" pitchFamily="18" charset="0"/>
              </a:rPr>
              <a:t>Implémentation</a:t>
            </a:r>
          </a:p>
        </p:txBody>
      </p:sp>
      <p:sp>
        <p:nvSpPr>
          <p:cNvPr id="8" name="Flowchart: Off-page Connector 30">
            <a:extLst>
              <a:ext uri="{FF2B5EF4-FFF2-40B4-BE49-F238E27FC236}">
                <a16:creationId xmlns:a16="http://schemas.microsoft.com/office/drawing/2014/main" id="{B3DA3C55-1D70-509B-B456-2B734383CAD9}"/>
              </a:ext>
            </a:extLst>
          </p:cNvPr>
          <p:cNvSpPr/>
          <p:nvPr/>
        </p:nvSpPr>
        <p:spPr>
          <a:xfrm>
            <a:off x="11744324" y="11654"/>
            <a:ext cx="365143" cy="537721"/>
          </a:xfrm>
          <a:prstGeom prst="flowChartOffpageConnector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Source Sans Pro" pitchFamily="34" charset="0"/>
              </a:rPr>
              <a:t>14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3D4E792-BD7E-9FE6-FA63-C95EBEE28A7C}"/>
              </a:ext>
            </a:extLst>
          </p:cNvPr>
          <p:cNvSpPr/>
          <p:nvPr/>
        </p:nvSpPr>
        <p:spPr>
          <a:xfrm>
            <a:off x="126514" y="91529"/>
            <a:ext cx="360000" cy="3600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00B0F0"/>
                </a:solidFill>
                <a:latin typeface="Garamond" pitchFamily="18" charset="0"/>
              </a:rPr>
              <a:t>1</a:t>
            </a:r>
            <a:endParaRPr lang="en-US" b="1" dirty="0">
              <a:solidFill>
                <a:srgbClr val="00B0F0"/>
              </a:solidFill>
              <a:latin typeface="Garamond" pitchFamily="18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6A66DC9-41C1-1E37-AA2D-D76FDC89C39B}"/>
              </a:ext>
            </a:extLst>
          </p:cNvPr>
          <p:cNvSpPr/>
          <p:nvPr/>
        </p:nvSpPr>
        <p:spPr>
          <a:xfrm>
            <a:off x="629960" y="91529"/>
            <a:ext cx="360000" cy="36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00B0F0"/>
                </a:solidFill>
                <a:latin typeface="Garamond" pitchFamily="18" charset="0"/>
              </a:rPr>
              <a:t>2</a:t>
            </a:r>
            <a:endParaRPr lang="en-US" b="1" dirty="0">
              <a:solidFill>
                <a:srgbClr val="00B0F0"/>
              </a:solidFill>
              <a:latin typeface="Garamond" pitchFamily="18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B6B2CB1-4C98-223B-415C-6A34D6A2B3DD}"/>
              </a:ext>
            </a:extLst>
          </p:cNvPr>
          <p:cNvSpPr/>
          <p:nvPr/>
        </p:nvSpPr>
        <p:spPr>
          <a:xfrm>
            <a:off x="1133406" y="91529"/>
            <a:ext cx="360000" cy="36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00B0F0"/>
                </a:solidFill>
                <a:latin typeface="Garamond" pitchFamily="18" charset="0"/>
              </a:rPr>
              <a:t>3</a:t>
            </a:r>
            <a:endParaRPr lang="en-US" b="1" dirty="0">
              <a:solidFill>
                <a:srgbClr val="00B0F0"/>
              </a:solidFill>
              <a:latin typeface="Garamond" pitchFamily="18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DBC3F77-9C13-F520-46DD-D73ECA1B1E11}"/>
              </a:ext>
            </a:extLst>
          </p:cNvPr>
          <p:cNvSpPr/>
          <p:nvPr/>
        </p:nvSpPr>
        <p:spPr>
          <a:xfrm>
            <a:off x="1636852" y="91529"/>
            <a:ext cx="360000" cy="360000"/>
          </a:xfrm>
          <a:prstGeom prst="ellipse">
            <a:avLst/>
          </a:prstGeom>
          <a:solidFill>
            <a:srgbClr val="049D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  <a:latin typeface="Garamond" pitchFamily="18" charset="0"/>
              </a:rPr>
              <a:t>4</a:t>
            </a:r>
            <a:endParaRPr lang="en-US" b="1" dirty="0">
              <a:solidFill>
                <a:schemeClr val="bg1"/>
              </a:solidFill>
              <a:latin typeface="Garamond" pitchFamily="18" charset="0"/>
            </a:endParaRPr>
          </a:p>
        </p:txBody>
      </p:sp>
      <p:sp>
        <p:nvSpPr>
          <p:cNvPr id="14" name="Oval 17">
            <a:extLst>
              <a:ext uri="{FF2B5EF4-FFF2-40B4-BE49-F238E27FC236}">
                <a16:creationId xmlns:a16="http://schemas.microsoft.com/office/drawing/2014/main" id="{055A35B4-04EF-B368-40C1-5453275CB61B}"/>
              </a:ext>
            </a:extLst>
          </p:cNvPr>
          <p:cNvSpPr/>
          <p:nvPr/>
        </p:nvSpPr>
        <p:spPr>
          <a:xfrm>
            <a:off x="2140298" y="91529"/>
            <a:ext cx="360000" cy="36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00B0F0"/>
                </a:solidFill>
                <a:latin typeface="Garamond" pitchFamily="18" charset="0"/>
              </a:rPr>
              <a:t>5</a:t>
            </a:r>
            <a:endParaRPr lang="en-US" b="1" dirty="0">
              <a:solidFill>
                <a:srgbClr val="00B0F0"/>
              </a:solidFill>
              <a:latin typeface="Garamond" pitchFamily="18" charset="0"/>
            </a:endParaRPr>
          </a:p>
        </p:txBody>
      </p:sp>
      <p:cxnSp>
        <p:nvCxnSpPr>
          <p:cNvPr id="15" name="Connecteur droit 86">
            <a:extLst>
              <a:ext uri="{FF2B5EF4-FFF2-40B4-BE49-F238E27FC236}">
                <a16:creationId xmlns:a16="http://schemas.microsoft.com/office/drawing/2014/main" id="{AFAAE417-6990-8E69-1FD6-EF05DF35210A}"/>
              </a:ext>
            </a:extLst>
          </p:cNvPr>
          <p:cNvCxnSpPr/>
          <p:nvPr/>
        </p:nvCxnSpPr>
        <p:spPr>
          <a:xfrm>
            <a:off x="3292278" y="61633"/>
            <a:ext cx="0" cy="440695"/>
          </a:xfrm>
          <a:prstGeom prst="line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Oval 17">
            <a:extLst>
              <a:ext uri="{FF2B5EF4-FFF2-40B4-BE49-F238E27FC236}">
                <a16:creationId xmlns:a16="http://schemas.microsoft.com/office/drawing/2014/main" id="{40FBCF2B-50F2-6435-6081-1460A793871B}"/>
              </a:ext>
            </a:extLst>
          </p:cNvPr>
          <p:cNvSpPr/>
          <p:nvPr/>
        </p:nvSpPr>
        <p:spPr>
          <a:xfrm>
            <a:off x="2634936" y="100514"/>
            <a:ext cx="360000" cy="36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00B0F0"/>
                </a:solidFill>
                <a:latin typeface="Garamond" pitchFamily="18" charset="0"/>
              </a:rPr>
              <a:t>6</a:t>
            </a:r>
            <a:endParaRPr lang="en-US" b="1" dirty="0">
              <a:solidFill>
                <a:srgbClr val="00B0F0"/>
              </a:solidFill>
              <a:latin typeface="Garamond" pitchFamily="18" charset="0"/>
            </a:endParaRPr>
          </a:p>
        </p:txBody>
      </p:sp>
      <p:sp>
        <p:nvSpPr>
          <p:cNvPr id="2" name="Chevron 46">
            <a:extLst>
              <a:ext uri="{FF2B5EF4-FFF2-40B4-BE49-F238E27FC236}">
                <a16:creationId xmlns:a16="http://schemas.microsoft.com/office/drawing/2014/main" id="{C873050C-B894-A672-8360-9FA7B64738B0}"/>
              </a:ext>
            </a:extLst>
          </p:cNvPr>
          <p:cNvSpPr/>
          <p:nvPr/>
        </p:nvSpPr>
        <p:spPr>
          <a:xfrm>
            <a:off x="6128657" y="661300"/>
            <a:ext cx="5808239" cy="583240"/>
          </a:xfrm>
          <a:prstGeom prst="chevron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solidFill>
                  <a:schemeClr val="bg1"/>
                </a:solidFill>
                <a:latin typeface="Garamond" charset="0"/>
              </a:rPr>
              <a:t>Réalisation logicielle </a:t>
            </a:r>
          </a:p>
        </p:txBody>
      </p:sp>
      <p:sp>
        <p:nvSpPr>
          <p:cNvPr id="5" name="Pentagon 47">
            <a:extLst>
              <a:ext uri="{FF2B5EF4-FFF2-40B4-BE49-F238E27FC236}">
                <a16:creationId xmlns:a16="http://schemas.microsoft.com/office/drawing/2014/main" id="{DCA17B06-EA20-CD50-28F3-9FCB40952835}"/>
              </a:ext>
            </a:extLst>
          </p:cNvPr>
          <p:cNvSpPr/>
          <p:nvPr/>
        </p:nvSpPr>
        <p:spPr>
          <a:xfrm>
            <a:off x="126514" y="674776"/>
            <a:ext cx="6020286" cy="569764"/>
          </a:xfrm>
          <a:prstGeom prst="homePlate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bg1"/>
                </a:solidFill>
                <a:latin typeface="Garamond" charset="0"/>
              </a:rPr>
              <a:t>Réalisation matérielle </a:t>
            </a:r>
          </a:p>
        </p:txBody>
      </p:sp>
      <p:sp>
        <p:nvSpPr>
          <p:cNvPr id="18" name="Rectangle 7">
            <a:extLst>
              <a:ext uri="{FF2B5EF4-FFF2-40B4-BE49-F238E27FC236}">
                <a16:creationId xmlns:a16="http://schemas.microsoft.com/office/drawing/2014/main" id="{FBB6A4D8-3CC0-4A9A-C6C4-DFF2E99C3A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28675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Rectangle 10">
            <a:extLst>
              <a:ext uri="{FF2B5EF4-FFF2-40B4-BE49-F238E27FC236}">
                <a16:creationId xmlns:a16="http://schemas.microsoft.com/office/drawing/2014/main" id="{881C8D3D-F5FA-2B24-3B9B-5A7920D814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28675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10" name="Image 9" descr="Une image contenant Plan, diagramme, Ingénierie électronique, carte&#10;&#10;Le contenu généré par l’IA peut être incorrect.">
            <a:extLst>
              <a:ext uri="{FF2B5EF4-FFF2-40B4-BE49-F238E27FC236}">
                <a16:creationId xmlns:a16="http://schemas.microsoft.com/office/drawing/2014/main" id="{21CB9781-DD8F-99D9-01DB-D889E110E9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2974" y="2642733"/>
            <a:ext cx="9269119" cy="2391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11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9F764-8119-96EE-771E-2A70AB7E3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69B1B20-109E-01EF-77E8-11B57DB73528}"/>
              </a:ext>
            </a:extLst>
          </p:cNvPr>
          <p:cNvSpPr/>
          <p:nvPr/>
        </p:nvSpPr>
        <p:spPr>
          <a:xfrm>
            <a:off x="0" y="6473371"/>
            <a:ext cx="12208932" cy="40127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Garamond" charset="0"/>
                <a:ea typeface="Garamond" charset="0"/>
                <a:cs typeface="Garamond" charset="0"/>
              </a:rPr>
              <a:t> 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5F77361B-D887-7A30-9F43-0B6BCCD840D7}"/>
              </a:ext>
            </a:extLst>
          </p:cNvPr>
          <p:cNvSpPr txBox="1"/>
          <p:nvPr/>
        </p:nvSpPr>
        <p:spPr>
          <a:xfrm>
            <a:off x="629960" y="1632678"/>
            <a:ext cx="7450478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500" dirty="0"/>
              <a:t>Nous avons une architecture 3 couches très claire.</a:t>
            </a:r>
          </a:p>
          <a:p>
            <a:r>
              <a:rPr lang="fr-FR" sz="1500" dirty="0"/>
              <a:t>COUCHE 1 - Arduino (</a:t>
            </a:r>
            <a:r>
              <a:rPr lang="fr-FR" sz="1500" dirty="0" err="1"/>
              <a:t>firmware</a:t>
            </a:r>
            <a:r>
              <a:rPr lang="fr-FR" sz="1500" dirty="0"/>
              <a:t>)</a:t>
            </a:r>
          </a:p>
          <a:p>
            <a:r>
              <a:rPr lang="fr-FR" sz="1500" dirty="0"/>
              <a:t>Le code Arduino tourne en boucle</a:t>
            </a:r>
          </a:p>
          <a:p>
            <a:r>
              <a:rPr lang="fr-FR" sz="1500" dirty="0"/>
              <a:t>À chaque cycle :</a:t>
            </a:r>
          </a:p>
          <a:p>
            <a:r>
              <a:rPr lang="fr-FR" sz="1500" dirty="0"/>
              <a:t>• Mesure distance ultrason</a:t>
            </a:r>
          </a:p>
          <a:p>
            <a:r>
              <a:rPr lang="fr-FR" sz="1500" dirty="0"/>
              <a:t>• Compare : 5cm (critique), 10cm (limite)</a:t>
            </a:r>
          </a:p>
          <a:p>
            <a:r>
              <a:rPr lang="fr-FR" sz="1500" dirty="0"/>
              <a:t>• Envoie par série le statut : 'DANGER LEFT' ou 'CLEAR LEFT'</a:t>
            </a:r>
          </a:p>
          <a:p>
            <a:endParaRPr lang="fr-FR" sz="1500" dirty="0"/>
          </a:p>
          <a:p>
            <a:r>
              <a:rPr lang="fr-FR" sz="1500" dirty="0"/>
              <a:t>COUCHE 2 - C++ avec Qt</a:t>
            </a:r>
          </a:p>
          <a:p>
            <a:r>
              <a:rPr lang="fr-FR" sz="1500" dirty="0"/>
              <a:t>Côté PC/Raspberry Pi, on reçoit ce texte sur le port série.</a:t>
            </a:r>
          </a:p>
          <a:p>
            <a:r>
              <a:rPr lang="fr-FR" sz="1500" dirty="0" err="1"/>
              <a:t>ArduinoController</a:t>
            </a:r>
            <a:r>
              <a:rPr lang="fr-FR" sz="1500" dirty="0"/>
              <a:t> lit et analyse chaque ligne.</a:t>
            </a:r>
          </a:p>
          <a:p>
            <a:r>
              <a:rPr lang="fr-FR" sz="1500" dirty="0"/>
              <a:t>Quand il reçoit 'DANGER LEFT', il émet un signal Qt : </a:t>
            </a:r>
            <a:r>
              <a:rPr lang="fr-FR" sz="1500" dirty="0" err="1"/>
              <a:t>dangerLeft</a:t>
            </a:r>
            <a:r>
              <a:rPr lang="fr-FR" sz="1500" dirty="0"/>
              <a:t>()</a:t>
            </a:r>
          </a:p>
          <a:p>
            <a:r>
              <a:rPr lang="fr-FR" sz="1500" dirty="0"/>
              <a:t>Les signaux Qt c'est la force du </a:t>
            </a:r>
            <a:r>
              <a:rPr lang="fr-FR" sz="1500" dirty="0" err="1"/>
              <a:t>framework</a:t>
            </a:r>
            <a:r>
              <a:rPr lang="fr-FR" sz="1500" dirty="0"/>
              <a:t>.</a:t>
            </a:r>
          </a:p>
          <a:p>
            <a:r>
              <a:rPr lang="fr-FR" sz="1500" dirty="0"/>
              <a:t>Ça connecte les couches sans couplage.</a:t>
            </a:r>
          </a:p>
          <a:p>
            <a:endParaRPr lang="fr-FR" sz="1500" dirty="0"/>
          </a:p>
          <a:p>
            <a:r>
              <a:rPr lang="fr-FR" sz="1500" dirty="0"/>
              <a:t>COUCHE 3 - QML 3D</a:t>
            </a:r>
          </a:p>
          <a:p>
            <a:r>
              <a:rPr lang="fr-FR" sz="1500" dirty="0"/>
              <a:t>L'interface QML reçoit le signal </a:t>
            </a:r>
            <a:r>
              <a:rPr lang="fr-FR" sz="1500" dirty="0" err="1"/>
              <a:t>dangerLeft</a:t>
            </a:r>
            <a:r>
              <a:rPr lang="fr-FR" sz="1500" dirty="0"/>
              <a:t>().</a:t>
            </a:r>
          </a:p>
          <a:p>
            <a:r>
              <a:rPr lang="fr-FR" sz="1500" dirty="0"/>
              <a:t>Immédiatement, la caméra 3D du camion bascule à -45 degrés.</a:t>
            </a:r>
          </a:p>
          <a:p>
            <a:r>
              <a:rPr lang="fr-FR" sz="1500" dirty="0"/>
              <a:t>Animation fluide : 700 millisecondes avec </a:t>
            </a:r>
            <a:r>
              <a:rPr lang="fr-FR" sz="1500" dirty="0" err="1"/>
              <a:t>easing</a:t>
            </a:r>
            <a:r>
              <a:rPr lang="fr-FR" sz="1500" dirty="0"/>
              <a:t> cubique.</a:t>
            </a:r>
          </a:p>
          <a:p>
            <a:r>
              <a:rPr lang="fr-FR" sz="1500" dirty="0"/>
              <a:t>Rectangle rouge alerte apparaît à l'écran.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7FAAD45-C03E-3719-429D-66971FAC26A7}"/>
              </a:ext>
            </a:extLst>
          </p:cNvPr>
          <p:cNvSpPr/>
          <p:nvPr/>
        </p:nvSpPr>
        <p:spPr>
          <a:xfrm>
            <a:off x="-16932" y="0"/>
            <a:ext cx="12208932" cy="5832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  <a:cs typeface="Times New Roman" panose="02020603050405020304" pitchFamily="18" charset="0"/>
              </a:rPr>
              <a:t>Implémentation</a:t>
            </a:r>
          </a:p>
        </p:txBody>
      </p:sp>
      <p:sp>
        <p:nvSpPr>
          <p:cNvPr id="5" name="Flowchart: Off-page Connector 30">
            <a:extLst>
              <a:ext uri="{FF2B5EF4-FFF2-40B4-BE49-F238E27FC236}">
                <a16:creationId xmlns:a16="http://schemas.microsoft.com/office/drawing/2014/main" id="{AC552E45-80BB-E626-BA4D-501F4BDFF11D}"/>
              </a:ext>
            </a:extLst>
          </p:cNvPr>
          <p:cNvSpPr/>
          <p:nvPr/>
        </p:nvSpPr>
        <p:spPr>
          <a:xfrm>
            <a:off x="11744324" y="11654"/>
            <a:ext cx="365143" cy="537721"/>
          </a:xfrm>
          <a:prstGeom prst="flowChartOffpageConnector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Source Sans Pro" pitchFamily="34" charset="0"/>
              </a:rPr>
              <a:t>14</a:t>
            </a:r>
          </a:p>
        </p:txBody>
      </p:sp>
      <p:sp>
        <p:nvSpPr>
          <p:cNvPr id="17" name="Oval 8">
            <a:extLst>
              <a:ext uri="{FF2B5EF4-FFF2-40B4-BE49-F238E27FC236}">
                <a16:creationId xmlns:a16="http://schemas.microsoft.com/office/drawing/2014/main" id="{4B161306-CBCF-CED4-1A08-2D674CE6B3EF}"/>
              </a:ext>
            </a:extLst>
          </p:cNvPr>
          <p:cNvSpPr/>
          <p:nvPr/>
        </p:nvSpPr>
        <p:spPr>
          <a:xfrm>
            <a:off x="126514" y="91529"/>
            <a:ext cx="360000" cy="3600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00B0F0"/>
                </a:solidFill>
                <a:latin typeface="Garamond" pitchFamily="18" charset="0"/>
              </a:rPr>
              <a:t>1</a:t>
            </a:r>
            <a:endParaRPr lang="en-US" b="1" dirty="0">
              <a:solidFill>
                <a:srgbClr val="00B0F0"/>
              </a:solidFill>
              <a:latin typeface="Garamond" pitchFamily="18" charset="0"/>
            </a:endParaRPr>
          </a:p>
        </p:txBody>
      </p:sp>
      <p:sp>
        <p:nvSpPr>
          <p:cNvPr id="23" name="Oval 10">
            <a:extLst>
              <a:ext uri="{FF2B5EF4-FFF2-40B4-BE49-F238E27FC236}">
                <a16:creationId xmlns:a16="http://schemas.microsoft.com/office/drawing/2014/main" id="{14D79C02-0018-72E2-B066-1FC00D4B5776}"/>
              </a:ext>
            </a:extLst>
          </p:cNvPr>
          <p:cNvSpPr/>
          <p:nvPr/>
        </p:nvSpPr>
        <p:spPr>
          <a:xfrm>
            <a:off x="629960" y="91529"/>
            <a:ext cx="360000" cy="36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00B0F0"/>
                </a:solidFill>
                <a:latin typeface="Garamond" pitchFamily="18" charset="0"/>
              </a:rPr>
              <a:t>2</a:t>
            </a:r>
            <a:endParaRPr lang="en-US" b="1" dirty="0">
              <a:solidFill>
                <a:srgbClr val="00B0F0"/>
              </a:solidFill>
              <a:latin typeface="Garamond" pitchFamily="18" charset="0"/>
            </a:endParaRPr>
          </a:p>
        </p:txBody>
      </p:sp>
      <p:sp>
        <p:nvSpPr>
          <p:cNvPr id="24" name="Oval 11">
            <a:extLst>
              <a:ext uri="{FF2B5EF4-FFF2-40B4-BE49-F238E27FC236}">
                <a16:creationId xmlns:a16="http://schemas.microsoft.com/office/drawing/2014/main" id="{AAD85026-DE83-7C3F-58C5-062785678466}"/>
              </a:ext>
            </a:extLst>
          </p:cNvPr>
          <p:cNvSpPr/>
          <p:nvPr/>
        </p:nvSpPr>
        <p:spPr>
          <a:xfrm>
            <a:off x="1133406" y="91529"/>
            <a:ext cx="360000" cy="36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00B0F0"/>
                </a:solidFill>
                <a:latin typeface="Garamond" pitchFamily="18" charset="0"/>
              </a:rPr>
              <a:t>3</a:t>
            </a:r>
            <a:endParaRPr lang="en-US" b="1" dirty="0">
              <a:solidFill>
                <a:srgbClr val="00B0F0"/>
              </a:solidFill>
              <a:latin typeface="Garamond" pitchFamily="18" charset="0"/>
            </a:endParaRPr>
          </a:p>
        </p:txBody>
      </p:sp>
      <p:sp>
        <p:nvSpPr>
          <p:cNvPr id="25" name="Oval 12">
            <a:extLst>
              <a:ext uri="{FF2B5EF4-FFF2-40B4-BE49-F238E27FC236}">
                <a16:creationId xmlns:a16="http://schemas.microsoft.com/office/drawing/2014/main" id="{EBB96824-DA5E-0313-14C0-AF89313D0A2C}"/>
              </a:ext>
            </a:extLst>
          </p:cNvPr>
          <p:cNvSpPr/>
          <p:nvPr/>
        </p:nvSpPr>
        <p:spPr>
          <a:xfrm>
            <a:off x="1636852" y="91529"/>
            <a:ext cx="360000" cy="360000"/>
          </a:xfrm>
          <a:prstGeom prst="ellipse">
            <a:avLst/>
          </a:prstGeom>
          <a:solidFill>
            <a:srgbClr val="049D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  <a:latin typeface="Garamond" pitchFamily="18" charset="0"/>
              </a:rPr>
              <a:t>4</a:t>
            </a:r>
            <a:endParaRPr lang="en-US" b="1" dirty="0">
              <a:solidFill>
                <a:schemeClr val="bg1"/>
              </a:solidFill>
              <a:latin typeface="Garamond" pitchFamily="18" charset="0"/>
            </a:endParaRPr>
          </a:p>
        </p:txBody>
      </p:sp>
      <p:sp>
        <p:nvSpPr>
          <p:cNvPr id="26" name="Oval 17">
            <a:extLst>
              <a:ext uri="{FF2B5EF4-FFF2-40B4-BE49-F238E27FC236}">
                <a16:creationId xmlns:a16="http://schemas.microsoft.com/office/drawing/2014/main" id="{63A2E618-880D-4D67-2780-78CA5D067375}"/>
              </a:ext>
            </a:extLst>
          </p:cNvPr>
          <p:cNvSpPr/>
          <p:nvPr/>
        </p:nvSpPr>
        <p:spPr>
          <a:xfrm>
            <a:off x="2140298" y="91529"/>
            <a:ext cx="360000" cy="36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00B0F0"/>
                </a:solidFill>
                <a:latin typeface="Garamond" pitchFamily="18" charset="0"/>
              </a:rPr>
              <a:t>5</a:t>
            </a:r>
            <a:endParaRPr lang="en-US" b="1" dirty="0">
              <a:solidFill>
                <a:srgbClr val="00B0F0"/>
              </a:solidFill>
              <a:latin typeface="Garamond" pitchFamily="18" charset="0"/>
            </a:endParaRPr>
          </a:p>
        </p:txBody>
      </p:sp>
      <p:cxnSp>
        <p:nvCxnSpPr>
          <p:cNvPr id="27" name="Connecteur droit 86">
            <a:extLst>
              <a:ext uri="{FF2B5EF4-FFF2-40B4-BE49-F238E27FC236}">
                <a16:creationId xmlns:a16="http://schemas.microsoft.com/office/drawing/2014/main" id="{2D64DC4F-B860-8585-4AFD-F5115307E15C}"/>
              </a:ext>
            </a:extLst>
          </p:cNvPr>
          <p:cNvCxnSpPr/>
          <p:nvPr/>
        </p:nvCxnSpPr>
        <p:spPr>
          <a:xfrm>
            <a:off x="3292278" y="61633"/>
            <a:ext cx="0" cy="440695"/>
          </a:xfrm>
          <a:prstGeom prst="line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8" name="Oval 17">
            <a:extLst>
              <a:ext uri="{FF2B5EF4-FFF2-40B4-BE49-F238E27FC236}">
                <a16:creationId xmlns:a16="http://schemas.microsoft.com/office/drawing/2014/main" id="{E48FF6F4-E405-2993-6FF4-D42C82DEC4E3}"/>
              </a:ext>
            </a:extLst>
          </p:cNvPr>
          <p:cNvSpPr/>
          <p:nvPr/>
        </p:nvSpPr>
        <p:spPr>
          <a:xfrm>
            <a:off x="2634936" y="100514"/>
            <a:ext cx="360000" cy="36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00B0F0"/>
                </a:solidFill>
                <a:latin typeface="Garamond" pitchFamily="18" charset="0"/>
              </a:rPr>
              <a:t>6</a:t>
            </a:r>
            <a:endParaRPr lang="en-US" b="1" dirty="0">
              <a:solidFill>
                <a:srgbClr val="00B0F0"/>
              </a:solidFill>
              <a:latin typeface="Garamond" pitchFamily="18" charset="0"/>
            </a:endParaRPr>
          </a:p>
        </p:txBody>
      </p:sp>
      <p:sp>
        <p:nvSpPr>
          <p:cNvPr id="29" name="Chevron 46">
            <a:extLst>
              <a:ext uri="{FF2B5EF4-FFF2-40B4-BE49-F238E27FC236}">
                <a16:creationId xmlns:a16="http://schemas.microsoft.com/office/drawing/2014/main" id="{81FDCD76-82B6-7658-AF5F-0F2D06D48C92}"/>
              </a:ext>
            </a:extLst>
          </p:cNvPr>
          <p:cNvSpPr/>
          <p:nvPr/>
        </p:nvSpPr>
        <p:spPr>
          <a:xfrm>
            <a:off x="6128657" y="661300"/>
            <a:ext cx="5808239" cy="583240"/>
          </a:xfrm>
          <a:prstGeom prst="chevron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solidFill>
                  <a:schemeClr val="bg1"/>
                </a:solidFill>
                <a:latin typeface="Garamond" charset="0"/>
              </a:rPr>
              <a:t>Réalisation logicielle </a:t>
            </a:r>
          </a:p>
        </p:txBody>
      </p:sp>
      <p:sp>
        <p:nvSpPr>
          <p:cNvPr id="30" name="Pentagon 47">
            <a:extLst>
              <a:ext uri="{FF2B5EF4-FFF2-40B4-BE49-F238E27FC236}">
                <a16:creationId xmlns:a16="http://schemas.microsoft.com/office/drawing/2014/main" id="{58693713-A823-9BAA-A95F-902A36A45BA6}"/>
              </a:ext>
            </a:extLst>
          </p:cNvPr>
          <p:cNvSpPr/>
          <p:nvPr/>
        </p:nvSpPr>
        <p:spPr>
          <a:xfrm>
            <a:off x="126514" y="674776"/>
            <a:ext cx="6020286" cy="569764"/>
          </a:xfrm>
          <a:prstGeom prst="homePlate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bg1"/>
                </a:solidFill>
                <a:latin typeface="Garamond" charset="0"/>
              </a:rPr>
              <a:t>Réalisation matérielle </a:t>
            </a:r>
          </a:p>
        </p:txBody>
      </p:sp>
      <p:sp>
        <p:nvSpPr>
          <p:cNvPr id="31" name="Rectangle 7">
            <a:extLst>
              <a:ext uri="{FF2B5EF4-FFF2-40B4-BE49-F238E27FC236}">
                <a16:creationId xmlns:a16="http://schemas.microsoft.com/office/drawing/2014/main" id="{7EDCE136-E70D-3E53-F95F-ADC9997FB4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28675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2" name="Rectangle 10">
            <a:extLst>
              <a:ext uri="{FF2B5EF4-FFF2-40B4-BE49-F238E27FC236}">
                <a16:creationId xmlns:a16="http://schemas.microsoft.com/office/drawing/2014/main" id="{315B7788-5A8F-E7AB-E940-E212A54CAA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28675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34" name="Image 33" descr="Une image contenant texte, capture d’écran, diagramme, Police&#10;&#10;Le contenu généré par l’IA peut être incorrect.">
            <a:extLst>
              <a:ext uri="{FF2B5EF4-FFF2-40B4-BE49-F238E27FC236}">
                <a16:creationId xmlns:a16="http://schemas.microsoft.com/office/drawing/2014/main" id="{EF610705-CCD1-E2C5-129D-46309BE19A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4466" y="2494288"/>
            <a:ext cx="4608035" cy="2365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022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3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6473371"/>
            <a:ext cx="12208932" cy="40127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Garamond" charset="0"/>
                <a:ea typeface="Garamond" charset="0"/>
                <a:cs typeface="Garamond" charset="0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-16933" y="0"/>
            <a:ext cx="12126399" cy="5832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  <a:cs typeface="Times New Roman" panose="02020603050405020304" pitchFamily="18" charset="0"/>
              </a:rPr>
              <a:t>Test et validation</a:t>
            </a:r>
          </a:p>
        </p:txBody>
      </p:sp>
      <p:sp>
        <p:nvSpPr>
          <p:cNvPr id="8" name="Flowchart: Off-page Connector 30"/>
          <p:cNvSpPr/>
          <p:nvPr/>
        </p:nvSpPr>
        <p:spPr>
          <a:xfrm>
            <a:off x="11744324" y="11654"/>
            <a:ext cx="365143" cy="537721"/>
          </a:xfrm>
          <a:prstGeom prst="flowChartOffpageConnector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Source Sans Pro" pitchFamily="34" charset="0"/>
              </a:rPr>
              <a:t>17</a:t>
            </a:r>
          </a:p>
        </p:txBody>
      </p:sp>
      <p:sp>
        <p:nvSpPr>
          <p:cNvPr id="9" name="Oval 8"/>
          <p:cNvSpPr/>
          <p:nvPr/>
        </p:nvSpPr>
        <p:spPr>
          <a:xfrm>
            <a:off x="126514" y="91529"/>
            <a:ext cx="360000" cy="3600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00B0F0"/>
                </a:solidFill>
                <a:latin typeface="Garamond" pitchFamily="18" charset="0"/>
              </a:rPr>
              <a:t>1</a:t>
            </a:r>
            <a:endParaRPr lang="en-US" b="1" dirty="0">
              <a:solidFill>
                <a:srgbClr val="00B0F0"/>
              </a:solidFill>
              <a:latin typeface="Garamond" pitchFamily="18" charset="0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629960" y="91529"/>
            <a:ext cx="360000" cy="36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00B0F0"/>
                </a:solidFill>
                <a:latin typeface="Garamond" pitchFamily="18" charset="0"/>
              </a:rPr>
              <a:t>2</a:t>
            </a:r>
            <a:endParaRPr lang="en-US" b="1" dirty="0">
              <a:solidFill>
                <a:srgbClr val="00B0F0"/>
              </a:solidFill>
              <a:latin typeface="Garamond" pitchFamily="18" charset="0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1133406" y="91529"/>
            <a:ext cx="360000" cy="36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049DEB"/>
                </a:solidFill>
                <a:latin typeface="Garamond" pitchFamily="18" charset="0"/>
              </a:rPr>
              <a:t>3</a:t>
            </a:r>
            <a:endParaRPr lang="en-US" b="1" dirty="0">
              <a:solidFill>
                <a:srgbClr val="049DEB"/>
              </a:solidFill>
              <a:latin typeface="Garamond" pitchFamily="18" charset="0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1636852" y="91529"/>
            <a:ext cx="360000" cy="36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049DEB"/>
                </a:solidFill>
                <a:latin typeface="Garamond" pitchFamily="18" charset="0"/>
              </a:rPr>
              <a:t>4</a:t>
            </a:r>
            <a:endParaRPr lang="en-US" b="1" dirty="0">
              <a:solidFill>
                <a:srgbClr val="049DEB"/>
              </a:solidFill>
              <a:latin typeface="Garamond" pitchFamily="18" charset="0"/>
            </a:endParaRPr>
          </a:p>
        </p:txBody>
      </p:sp>
      <p:sp>
        <p:nvSpPr>
          <p:cNvPr id="14" name="Oval 17"/>
          <p:cNvSpPr/>
          <p:nvPr/>
        </p:nvSpPr>
        <p:spPr>
          <a:xfrm>
            <a:off x="2140298" y="91529"/>
            <a:ext cx="360000" cy="360000"/>
          </a:xfrm>
          <a:prstGeom prst="ellipse">
            <a:avLst/>
          </a:prstGeom>
          <a:solidFill>
            <a:srgbClr val="049D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  <a:latin typeface="Garamond" pitchFamily="18" charset="0"/>
              </a:rPr>
              <a:t>5</a:t>
            </a:r>
            <a:endParaRPr lang="en-US" b="1" dirty="0">
              <a:solidFill>
                <a:schemeClr val="bg1"/>
              </a:solidFill>
              <a:latin typeface="Garamond" pitchFamily="18" charset="0"/>
            </a:endParaRPr>
          </a:p>
        </p:txBody>
      </p:sp>
      <p:cxnSp>
        <p:nvCxnSpPr>
          <p:cNvPr id="15" name="Connecteur droit 86">
            <a:extLst>
              <a:ext uri="{FF2B5EF4-FFF2-40B4-BE49-F238E27FC236}">
                <a16:creationId xmlns:a16="http://schemas.microsoft.com/office/drawing/2014/main" id="{9A81C419-47FA-426F-BF8C-07945B270E9A}"/>
              </a:ext>
            </a:extLst>
          </p:cNvPr>
          <p:cNvCxnSpPr/>
          <p:nvPr/>
        </p:nvCxnSpPr>
        <p:spPr>
          <a:xfrm>
            <a:off x="3113040" y="54592"/>
            <a:ext cx="0" cy="440695"/>
          </a:xfrm>
          <a:prstGeom prst="line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1" name="Oval 17">
            <a:extLst>
              <a:ext uri="{FF2B5EF4-FFF2-40B4-BE49-F238E27FC236}">
                <a16:creationId xmlns:a16="http://schemas.microsoft.com/office/drawing/2014/main" id="{C3CEFF76-C242-4D03-A9FC-8EABA816F77A}"/>
              </a:ext>
            </a:extLst>
          </p:cNvPr>
          <p:cNvSpPr/>
          <p:nvPr/>
        </p:nvSpPr>
        <p:spPr>
          <a:xfrm>
            <a:off x="2634936" y="100514"/>
            <a:ext cx="360000" cy="36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00B0F0"/>
                </a:solidFill>
                <a:latin typeface="Garamond" pitchFamily="18" charset="0"/>
              </a:rPr>
              <a:t>6</a:t>
            </a:r>
            <a:endParaRPr lang="en-US" b="1" dirty="0">
              <a:solidFill>
                <a:srgbClr val="00B0F0"/>
              </a:solidFill>
              <a:latin typeface="Garamond" pitchFamily="18" charset="0"/>
            </a:endParaRP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401B299D-E5FA-4715-4502-D9AD812E14A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1D77181B-DC6C-D070-1EFA-80DC8866A133}"/>
              </a:ext>
            </a:extLst>
          </p:cNvPr>
          <p:cNvSpPr txBox="1"/>
          <p:nvPr/>
        </p:nvSpPr>
        <p:spPr>
          <a:xfrm>
            <a:off x="486514" y="790739"/>
            <a:ext cx="61630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dirty="0"/>
              <a:t>Interaction 3D :</a:t>
            </a:r>
          </a:p>
        </p:txBody>
      </p:sp>
      <p:pic>
        <p:nvPicPr>
          <p:cNvPr id="22" name="Image 21" descr="Une image contenant roue, Véhicule terrestre, véhicule, transport&#10;&#10;Le contenu généré par l’IA peut être incorrect.">
            <a:extLst>
              <a:ext uri="{FF2B5EF4-FFF2-40B4-BE49-F238E27FC236}">
                <a16:creationId xmlns:a16="http://schemas.microsoft.com/office/drawing/2014/main" id="{5ACF59ED-6726-0358-1BD9-2E777FC74F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875" y="1367569"/>
            <a:ext cx="9620250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2543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9410B-9BBC-BDD6-F399-276335A35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12453F9-B3E7-FAC8-98F0-015343676385}"/>
              </a:ext>
            </a:extLst>
          </p:cNvPr>
          <p:cNvSpPr/>
          <p:nvPr/>
        </p:nvSpPr>
        <p:spPr>
          <a:xfrm>
            <a:off x="0" y="6473371"/>
            <a:ext cx="12208932" cy="40127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Garamond" charset="0"/>
                <a:ea typeface="Garamond" charset="0"/>
                <a:cs typeface="Garamond" charset="0"/>
              </a:rPr>
              <a:t>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476763-2264-0229-A039-5DD243B8DBB0}"/>
              </a:ext>
            </a:extLst>
          </p:cNvPr>
          <p:cNvSpPr/>
          <p:nvPr/>
        </p:nvSpPr>
        <p:spPr>
          <a:xfrm>
            <a:off x="-16933" y="0"/>
            <a:ext cx="12126399" cy="5832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  <a:cs typeface="Times New Roman" panose="02020603050405020304" pitchFamily="18" charset="0"/>
              </a:rPr>
              <a:t>Test et validation</a:t>
            </a:r>
          </a:p>
        </p:txBody>
      </p:sp>
      <p:sp>
        <p:nvSpPr>
          <p:cNvPr id="8" name="Flowchart: Off-page Connector 30">
            <a:extLst>
              <a:ext uri="{FF2B5EF4-FFF2-40B4-BE49-F238E27FC236}">
                <a16:creationId xmlns:a16="http://schemas.microsoft.com/office/drawing/2014/main" id="{132EF226-6CD8-5899-36D0-B508FFF7D74B}"/>
              </a:ext>
            </a:extLst>
          </p:cNvPr>
          <p:cNvSpPr/>
          <p:nvPr/>
        </p:nvSpPr>
        <p:spPr>
          <a:xfrm>
            <a:off x="11744324" y="11654"/>
            <a:ext cx="365143" cy="537721"/>
          </a:xfrm>
          <a:prstGeom prst="flowChartOffpageConnector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Source Sans Pro" pitchFamily="34" charset="0"/>
              </a:rPr>
              <a:t>17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ACC47BD-9BA0-4691-FA40-29A77E9F18F1}"/>
              </a:ext>
            </a:extLst>
          </p:cNvPr>
          <p:cNvSpPr/>
          <p:nvPr/>
        </p:nvSpPr>
        <p:spPr>
          <a:xfrm>
            <a:off x="126514" y="91529"/>
            <a:ext cx="360000" cy="3600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00B0F0"/>
                </a:solidFill>
                <a:latin typeface="Garamond" pitchFamily="18" charset="0"/>
              </a:rPr>
              <a:t>1</a:t>
            </a:r>
            <a:endParaRPr lang="en-US" b="1" dirty="0">
              <a:solidFill>
                <a:srgbClr val="00B0F0"/>
              </a:solidFill>
              <a:latin typeface="Garamond" pitchFamily="18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51359A0-F32B-822C-B399-15627CBFDDC7}"/>
              </a:ext>
            </a:extLst>
          </p:cNvPr>
          <p:cNvSpPr/>
          <p:nvPr/>
        </p:nvSpPr>
        <p:spPr>
          <a:xfrm>
            <a:off x="629960" y="91529"/>
            <a:ext cx="360000" cy="36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00B0F0"/>
                </a:solidFill>
                <a:latin typeface="Garamond" pitchFamily="18" charset="0"/>
              </a:rPr>
              <a:t>2</a:t>
            </a:r>
            <a:endParaRPr lang="en-US" b="1" dirty="0">
              <a:solidFill>
                <a:srgbClr val="00B0F0"/>
              </a:solidFill>
              <a:latin typeface="Garamond" pitchFamily="18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1BDFD9D-6C45-E6E3-5B69-28C9EA8AD5EE}"/>
              </a:ext>
            </a:extLst>
          </p:cNvPr>
          <p:cNvSpPr/>
          <p:nvPr/>
        </p:nvSpPr>
        <p:spPr>
          <a:xfrm>
            <a:off x="1133406" y="91529"/>
            <a:ext cx="360000" cy="36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049DEB"/>
                </a:solidFill>
                <a:latin typeface="Garamond" pitchFamily="18" charset="0"/>
              </a:rPr>
              <a:t>3</a:t>
            </a:r>
            <a:endParaRPr lang="en-US" b="1" dirty="0">
              <a:solidFill>
                <a:srgbClr val="049DEB"/>
              </a:solidFill>
              <a:latin typeface="Garamond" pitchFamily="18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A537C9-E1C4-E289-6353-FCBEC8EED473}"/>
              </a:ext>
            </a:extLst>
          </p:cNvPr>
          <p:cNvSpPr/>
          <p:nvPr/>
        </p:nvSpPr>
        <p:spPr>
          <a:xfrm>
            <a:off x="1636852" y="91529"/>
            <a:ext cx="360000" cy="36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049DEB"/>
                </a:solidFill>
                <a:latin typeface="Garamond" pitchFamily="18" charset="0"/>
              </a:rPr>
              <a:t>4</a:t>
            </a:r>
            <a:endParaRPr lang="en-US" b="1" dirty="0">
              <a:solidFill>
                <a:srgbClr val="049DEB"/>
              </a:solidFill>
              <a:latin typeface="Garamond" pitchFamily="18" charset="0"/>
            </a:endParaRPr>
          </a:p>
        </p:txBody>
      </p:sp>
      <p:sp>
        <p:nvSpPr>
          <p:cNvPr id="14" name="Oval 17">
            <a:extLst>
              <a:ext uri="{FF2B5EF4-FFF2-40B4-BE49-F238E27FC236}">
                <a16:creationId xmlns:a16="http://schemas.microsoft.com/office/drawing/2014/main" id="{EB1D89B2-C72C-BE4C-E9C7-F92E6E8643E2}"/>
              </a:ext>
            </a:extLst>
          </p:cNvPr>
          <p:cNvSpPr/>
          <p:nvPr/>
        </p:nvSpPr>
        <p:spPr>
          <a:xfrm>
            <a:off x="2140298" y="91529"/>
            <a:ext cx="360000" cy="360000"/>
          </a:xfrm>
          <a:prstGeom prst="ellipse">
            <a:avLst/>
          </a:prstGeom>
          <a:solidFill>
            <a:srgbClr val="049D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  <a:latin typeface="Garamond" pitchFamily="18" charset="0"/>
              </a:rPr>
              <a:t>5</a:t>
            </a:r>
            <a:endParaRPr lang="en-US" b="1" dirty="0">
              <a:solidFill>
                <a:schemeClr val="bg1"/>
              </a:solidFill>
              <a:latin typeface="Garamond" pitchFamily="18" charset="0"/>
            </a:endParaRPr>
          </a:p>
        </p:txBody>
      </p:sp>
      <p:cxnSp>
        <p:nvCxnSpPr>
          <p:cNvPr id="15" name="Connecteur droit 86">
            <a:extLst>
              <a:ext uri="{FF2B5EF4-FFF2-40B4-BE49-F238E27FC236}">
                <a16:creationId xmlns:a16="http://schemas.microsoft.com/office/drawing/2014/main" id="{1BD5C72F-24CA-7CE4-C303-C0DAA4EFB1E4}"/>
              </a:ext>
            </a:extLst>
          </p:cNvPr>
          <p:cNvCxnSpPr/>
          <p:nvPr/>
        </p:nvCxnSpPr>
        <p:spPr>
          <a:xfrm>
            <a:off x="3113040" y="54592"/>
            <a:ext cx="0" cy="440695"/>
          </a:xfrm>
          <a:prstGeom prst="line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1" name="Oval 17">
            <a:extLst>
              <a:ext uri="{FF2B5EF4-FFF2-40B4-BE49-F238E27FC236}">
                <a16:creationId xmlns:a16="http://schemas.microsoft.com/office/drawing/2014/main" id="{CA097AF8-8E52-93D0-436D-FD1B80A9CE11}"/>
              </a:ext>
            </a:extLst>
          </p:cNvPr>
          <p:cNvSpPr/>
          <p:nvPr/>
        </p:nvSpPr>
        <p:spPr>
          <a:xfrm>
            <a:off x="2634936" y="100514"/>
            <a:ext cx="360000" cy="36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00B0F0"/>
                </a:solidFill>
                <a:latin typeface="Garamond" pitchFamily="18" charset="0"/>
              </a:rPr>
              <a:t>6</a:t>
            </a:r>
            <a:endParaRPr lang="en-US" b="1" dirty="0">
              <a:solidFill>
                <a:srgbClr val="00B0F0"/>
              </a:solidFill>
              <a:latin typeface="Garamond" pitchFamily="18" charset="0"/>
            </a:endParaRP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1BADD9A2-7102-6F3F-B9C1-8BAFF1CA4A5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740096" y="339852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D984F31E-A4A1-5CBA-6DDE-1815E10FCB45}"/>
              </a:ext>
            </a:extLst>
          </p:cNvPr>
          <p:cNvSpPr txBox="1"/>
          <p:nvPr/>
        </p:nvSpPr>
        <p:spPr>
          <a:xfrm>
            <a:off x="486514" y="790739"/>
            <a:ext cx="61630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dirty="0"/>
              <a:t>Interaction 3D :</a:t>
            </a:r>
          </a:p>
        </p:txBody>
      </p:sp>
      <p:pic>
        <p:nvPicPr>
          <p:cNvPr id="16" name="Image 15" descr="Une image contenant texte, capture d’écran, truck, véhicule&#10;&#10;Le contenu généré par l’IA peut être incorrect.">
            <a:extLst>
              <a:ext uri="{FF2B5EF4-FFF2-40B4-BE49-F238E27FC236}">
                <a16:creationId xmlns:a16="http://schemas.microsoft.com/office/drawing/2014/main" id="{BB197625-C9A1-199F-8CD6-D6EFB583EE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6662" y="1892863"/>
            <a:ext cx="2346868" cy="3514725"/>
          </a:xfrm>
          <a:prstGeom prst="rect">
            <a:avLst/>
          </a:prstGeom>
        </p:spPr>
      </p:pic>
      <p:pic>
        <p:nvPicPr>
          <p:cNvPr id="17" name="Image 16" descr="Une image contenant Véhicule terrestre, texte, véhicule, roue&#10;&#10;Le contenu généré par l’IA peut être incorrect.">
            <a:extLst>
              <a:ext uri="{FF2B5EF4-FFF2-40B4-BE49-F238E27FC236}">
                <a16:creationId xmlns:a16="http://schemas.microsoft.com/office/drawing/2014/main" id="{99F35BD9-557D-064B-800A-E512D2F2AB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6852" y="1892863"/>
            <a:ext cx="2346656" cy="3514725"/>
          </a:xfrm>
          <a:prstGeom prst="rect">
            <a:avLst/>
          </a:prstGeom>
        </p:spPr>
      </p:pic>
      <p:pic>
        <p:nvPicPr>
          <p:cNvPr id="19" name="Image 18" descr="Une image contenant texte, véhicule, capture d’écran, Véhicule terrestre&#10;&#10;Le contenu généré par l’IA peut être incorrect.">
            <a:extLst>
              <a:ext uri="{FF2B5EF4-FFF2-40B4-BE49-F238E27FC236}">
                <a16:creationId xmlns:a16="http://schemas.microsoft.com/office/drawing/2014/main" id="{30CFD66D-9CF6-99DF-6ABB-72C8653D5E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6685" y="1892863"/>
            <a:ext cx="2346834" cy="351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2417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C70FF-A6A2-2642-AC26-CE9C03B5D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BE79B09-5A5E-7633-2870-B6323AAC1D99}"/>
              </a:ext>
            </a:extLst>
          </p:cNvPr>
          <p:cNvSpPr/>
          <p:nvPr/>
        </p:nvSpPr>
        <p:spPr>
          <a:xfrm>
            <a:off x="0" y="6473371"/>
            <a:ext cx="12208932" cy="40127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Garamond" charset="0"/>
                <a:ea typeface="Garamond" charset="0"/>
                <a:cs typeface="Garamond" charset="0"/>
              </a:rPr>
              <a:t>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381758-F590-10C0-4F3D-D2DEC414EAB4}"/>
              </a:ext>
            </a:extLst>
          </p:cNvPr>
          <p:cNvSpPr/>
          <p:nvPr/>
        </p:nvSpPr>
        <p:spPr>
          <a:xfrm>
            <a:off x="-16933" y="0"/>
            <a:ext cx="12126399" cy="5832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  <a:cs typeface="Times New Roman" panose="02020603050405020304" pitchFamily="18" charset="0"/>
              </a:rPr>
              <a:t>Test et validation</a:t>
            </a:r>
          </a:p>
        </p:txBody>
      </p:sp>
      <p:sp>
        <p:nvSpPr>
          <p:cNvPr id="8" name="Flowchart: Off-page Connector 30">
            <a:extLst>
              <a:ext uri="{FF2B5EF4-FFF2-40B4-BE49-F238E27FC236}">
                <a16:creationId xmlns:a16="http://schemas.microsoft.com/office/drawing/2014/main" id="{090D6E32-F331-2A10-774C-22837041E6B2}"/>
              </a:ext>
            </a:extLst>
          </p:cNvPr>
          <p:cNvSpPr/>
          <p:nvPr/>
        </p:nvSpPr>
        <p:spPr>
          <a:xfrm>
            <a:off x="11744324" y="11654"/>
            <a:ext cx="365143" cy="537721"/>
          </a:xfrm>
          <a:prstGeom prst="flowChartOffpageConnector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Source Sans Pro" pitchFamily="34" charset="0"/>
              </a:rPr>
              <a:t>20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E92DDC8-AEBA-1083-16D0-422C959D7EDA}"/>
              </a:ext>
            </a:extLst>
          </p:cNvPr>
          <p:cNvSpPr/>
          <p:nvPr/>
        </p:nvSpPr>
        <p:spPr>
          <a:xfrm>
            <a:off x="126514" y="91529"/>
            <a:ext cx="360000" cy="3600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00B0F0"/>
                </a:solidFill>
                <a:latin typeface="Garamond" pitchFamily="18" charset="0"/>
              </a:rPr>
              <a:t>1</a:t>
            </a:r>
            <a:endParaRPr lang="en-US" b="1" dirty="0">
              <a:solidFill>
                <a:srgbClr val="00B0F0"/>
              </a:solidFill>
              <a:latin typeface="Garamond" pitchFamily="18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5EBF730-1E1A-493E-58ED-8B24D4943151}"/>
              </a:ext>
            </a:extLst>
          </p:cNvPr>
          <p:cNvSpPr/>
          <p:nvPr/>
        </p:nvSpPr>
        <p:spPr>
          <a:xfrm>
            <a:off x="629960" y="91529"/>
            <a:ext cx="360000" cy="36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00B0F0"/>
                </a:solidFill>
                <a:latin typeface="Garamond" pitchFamily="18" charset="0"/>
              </a:rPr>
              <a:t>2</a:t>
            </a:r>
            <a:endParaRPr lang="en-US" b="1" dirty="0">
              <a:solidFill>
                <a:srgbClr val="00B0F0"/>
              </a:solidFill>
              <a:latin typeface="Garamond" pitchFamily="18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3C7D82C-7628-933C-2944-9E54826E479D}"/>
              </a:ext>
            </a:extLst>
          </p:cNvPr>
          <p:cNvSpPr/>
          <p:nvPr/>
        </p:nvSpPr>
        <p:spPr>
          <a:xfrm>
            <a:off x="1133406" y="91529"/>
            <a:ext cx="360000" cy="36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049DEB"/>
                </a:solidFill>
                <a:latin typeface="Garamond" pitchFamily="18" charset="0"/>
              </a:rPr>
              <a:t>3</a:t>
            </a:r>
            <a:endParaRPr lang="en-US" b="1" dirty="0">
              <a:solidFill>
                <a:srgbClr val="049DEB"/>
              </a:solidFill>
              <a:latin typeface="Garamond" pitchFamily="18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A18DCAC-4E72-E288-7EA9-78842C12410F}"/>
              </a:ext>
            </a:extLst>
          </p:cNvPr>
          <p:cNvSpPr/>
          <p:nvPr/>
        </p:nvSpPr>
        <p:spPr>
          <a:xfrm>
            <a:off x="1636852" y="91529"/>
            <a:ext cx="360000" cy="36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049DEB"/>
                </a:solidFill>
                <a:latin typeface="Garamond" pitchFamily="18" charset="0"/>
              </a:rPr>
              <a:t>4</a:t>
            </a:r>
            <a:endParaRPr lang="en-US" b="1" dirty="0">
              <a:solidFill>
                <a:srgbClr val="049DEB"/>
              </a:solidFill>
              <a:latin typeface="Garamond" pitchFamily="18" charset="0"/>
            </a:endParaRPr>
          </a:p>
        </p:txBody>
      </p:sp>
      <p:sp>
        <p:nvSpPr>
          <p:cNvPr id="14" name="Oval 17">
            <a:extLst>
              <a:ext uri="{FF2B5EF4-FFF2-40B4-BE49-F238E27FC236}">
                <a16:creationId xmlns:a16="http://schemas.microsoft.com/office/drawing/2014/main" id="{5DCE3A7B-24DE-1A58-DE89-A3CB3C6FEC55}"/>
              </a:ext>
            </a:extLst>
          </p:cNvPr>
          <p:cNvSpPr/>
          <p:nvPr/>
        </p:nvSpPr>
        <p:spPr>
          <a:xfrm>
            <a:off x="2140298" y="91529"/>
            <a:ext cx="360000" cy="360000"/>
          </a:xfrm>
          <a:prstGeom prst="ellipse">
            <a:avLst/>
          </a:prstGeom>
          <a:solidFill>
            <a:srgbClr val="049D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  <a:latin typeface="Garamond" pitchFamily="18" charset="0"/>
              </a:rPr>
              <a:t>5</a:t>
            </a:r>
            <a:endParaRPr lang="en-US" b="1" dirty="0">
              <a:solidFill>
                <a:schemeClr val="bg1"/>
              </a:solidFill>
              <a:latin typeface="Garamond" pitchFamily="18" charset="0"/>
            </a:endParaRPr>
          </a:p>
        </p:txBody>
      </p:sp>
      <p:cxnSp>
        <p:nvCxnSpPr>
          <p:cNvPr id="15" name="Connecteur droit 86">
            <a:extLst>
              <a:ext uri="{FF2B5EF4-FFF2-40B4-BE49-F238E27FC236}">
                <a16:creationId xmlns:a16="http://schemas.microsoft.com/office/drawing/2014/main" id="{5215F10F-83C5-9BF9-D98E-9AA8FDE83542}"/>
              </a:ext>
            </a:extLst>
          </p:cNvPr>
          <p:cNvCxnSpPr/>
          <p:nvPr/>
        </p:nvCxnSpPr>
        <p:spPr>
          <a:xfrm>
            <a:off x="3113040" y="54592"/>
            <a:ext cx="0" cy="440695"/>
          </a:xfrm>
          <a:prstGeom prst="line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1" name="Oval 17">
            <a:extLst>
              <a:ext uri="{FF2B5EF4-FFF2-40B4-BE49-F238E27FC236}">
                <a16:creationId xmlns:a16="http://schemas.microsoft.com/office/drawing/2014/main" id="{02938D24-88FA-1199-581F-86ADAEB89AF7}"/>
              </a:ext>
            </a:extLst>
          </p:cNvPr>
          <p:cNvSpPr/>
          <p:nvPr/>
        </p:nvSpPr>
        <p:spPr>
          <a:xfrm>
            <a:off x="2634936" y="100514"/>
            <a:ext cx="360000" cy="36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00B0F0"/>
                </a:solidFill>
                <a:latin typeface="Garamond" pitchFamily="18" charset="0"/>
              </a:rPr>
              <a:t>6</a:t>
            </a:r>
            <a:endParaRPr lang="en-US" b="1" dirty="0">
              <a:solidFill>
                <a:srgbClr val="00B0F0"/>
              </a:solidFill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8818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6473371"/>
            <a:ext cx="12208932" cy="40127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Garamond" charset="0"/>
                <a:ea typeface="Garamond" charset="0"/>
                <a:cs typeface="Garamond" charset="0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-16932" y="0"/>
            <a:ext cx="12208932" cy="5832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  <a:cs typeface="Times New Roman" panose="02020603050405020304" pitchFamily="18" charset="0"/>
              </a:rPr>
              <a:t>Conclusion &amp; Perspectives</a:t>
            </a:r>
          </a:p>
        </p:txBody>
      </p:sp>
      <p:sp>
        <p:nvSpPr>
          <p:cNvPr id="8" name="Flowchart: Off-page Connector 30"/>
          <p:cNvSpPr/>
          <p:nvPr/>
        </p:nvSpPr>
        <p:spPr>
          <a:xfrm>
            <a:off x="11744324" y="11654"/>
            <a:ext cx="365143" cy="537721"/>
          </a:xfrm>
          <a:prstGeom prst="flowChartOffpageConnector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Source Sans Pro" pitchFamily="34" charset="0"/>
              </a:rPr>
              <a:t>21</a:t>
            </a:r>
            <a:endParaRPr lang="en-US" sz="1600" dirty="0">
              <a:solidFill>
                <a:schemeClr val="bg1"/>
              </a:solidFill>
              <a:latin typeface="Source Sans Pro" pitchFamily="34" charset="0"/>
            </a:endParaRPr>
          </a:p>
        </p:txBody>
      </p:sp>
      <p:sp>
        <p:nvSpPr>
          <p:cNvPr id="9" name="Oval 8"/>
          <p:cNvSpPr/>
          <p:nvPr/>
        </p:nvSpPr>
        <p:spPr>
          <a:xfrm>
            <a:off x="126514" y="91529"/>
            <a:ext cx="360000" cy="36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00B0F0"/>
                </a:solidFill>
                <a:latin typeface="Garamond" pitchFamily="18" charset="0"/>
              </a:rPr>
              <a:t>1</a:t>
            </a:r>
            <a:endParaRPr lang="en-US" b="1" dirty="0">
              <a:solidFill>
                <a:srgbClr val="00B0F0"/>
              </a:solidFill>
              <a:latin typeface="Garamond" pitchFamily="18" charset="0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629960" y="91529"/>
            <a:ext cx="360000" cy="36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00B0F0"/>
                </a:solidFill>
                <a:latin typeface="Garamond" pitchFamily="18" charset="0"/>
              </a:rPr>
              <a:t>2</a:t>
            </a:r>
            <a:endParaRPr lang="en-US" b="1" dirty="0">
              <a:solidFill>
                <a:srgbClr val="00B0F0"/>
              </a:solidFill>
              <a:latin typeface="Garamond" pitchFamily="18" charset="0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1133406" y="91529"/>
            <a:ext cx="360000" cy="36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00B0F0"/>
                </a:solidFill>
                <a:latin typeface="Garamond" pitchFamily="18" charset="0"/>
              </a:rPr>
              <a:t>3</a:t>
            </a:r>
            <a:endParaRPr lang="en-US" b="1" dirty="0">
              <a:solidFill>
                <a:srgbClr val="00B0F0"/>
              </a:solidFill>
              <a:latin typeface="Garamond" pitchFamily="18" charset="0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1636852" y="91529"/>
            <a:ext cx="360000" cy="36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00B0F0"/>
                </a:solidFill>
                <a:latin typeface="Garamond" pitchFamily="18" charset="0"/>
              </a:rPr>
              <a:t>4</a:t>
            </a:r>
            <a:endParaRPr lang="en-US" b="1" dirty="0">
              <a:solidFill>
                <a:srgbClr val="00B0F0"/>
              </a:solidFill>
              <a:latin typeface="Garamond" pitchFamily="18" charset="0"/>
            </a:endParaRPr>
          </a:p>
        </p:txBody>
      </p:sp>
      <p:sp>
        <p:nvSpPr>
          <p:cNvPr id="14" name="Oval 17"/>
          <p:cNvSpPr/>
          <p:nvPr/>
        </p:nvSpPr>
        <p:spPr>
          <a:xfrm>
            <a:off x="2140298" y="91529"/>
            <a:ext cx="360000" cy="36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00B0F0"/>
                </a:solidFill>
                <a:latin typeface="Garamond" pitchFamily="18" charset="0"/>
              </a:rPr>
              <a:t>5</a:t>
            </a:r>
            <a:endParaRPr lang="en-US" b="1" dirty="0">
              <a:solidFill>
                <a:srgbClr val="00B0F0"/>
              </a:solidFill>
              <a:latin typeface="Garamond" pitchFamily="18" charset="0"/>
            </a:endParaRPr>
          </a:p>
        </p:txBody>
      </p:sp>
      <p:cxnSp>
        <p:nvCxnSpPr>
          <p:cNvPr id="15" name="Connecteur droit 86">
            <a:extLst>
              <a:ext uri="{FF2B5EF4-FFF2-40B4-BE49-F238E27FC236}">
                <a16:creationId xmlns:a16="http://schemas.microsoft.com/office/drawing/2014/main" id="{9A81C419-47FA-426F-BF8C-07945B270E9A}"/>
              </a:ext>
            </a:extLst>
          </p:cNvPr>
          <p:cNvCxnSpPr/>
          <p:nvPr/>
        </p:nvCxnSpPr>
        <p:spPr>
          <a:xfrm>
            <a:off x="3465791" y="61633"/>
            <a:ext cx="0" cy="440695"/>
          </a:xfrm>
          <a:prstGeom prst="line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3" name="Shape 754"/>
          <p:cNvSpPr/>
          <p:nvPr/>
        </p:nvSpPr>
        <p:spPr>
          <a:xfrm>
            <a:off x="639908" y="2285204"/>
            <a:ext cx="2644725" cy="2642212"/>
          </a:xfrm>
          <a:prstGeom prst="ellipse">
            <a:avLst/>
          </a:prstGeom>
          <a:noFill/>
          <a:ln w="12700" cap="flat">
            <a:solidFill>
              <a:srgbClr val="CBCED0"/>
            </a:solidFill>
            <a:prstDash val="solid"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>
              <a:defRPr sz="32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4" name="Shape 759"/>
          <p:cNvSpPr/>
          <p:nvPr/>
        </p:nvSpPr>
        <p:spPr>
          <a:xfrm>
            <a:off x="1636918" y="5274867"/>
            <a:ext cx="197833" cy="191351"/>
          </a:xfrm>
          <a:prstGeom prst="ellipse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>
              <a:defRPr sz="32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5" name="Shape 760"/>
          <p:cNvSpPr/>
          <p:nvPr/>
        </p:nvSpPr>
        <p:spPr>
          <a:xfrm>
            <a:off x="578250" y="3618289"/>
            <a:ext cx="157031" cy="148858"/>
          </a:xfrm>
          <a:prstGeom prst="ellipse">
            <a:avLst/>
          </a:prstGeom>
          <a:solidFill>
            <a:srgbClr val="C0C3C5"/>
          </a:solidFill>
          <a:ln w="12700" cap="flat">
            <a:noFill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>
              <a:defRPr sz="32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6" name="Shape 761"/>
          <p:cNvSpPr/>
          <p:nvPr/>
        </p:nvSpPr>
        <p:spPr>
          <a:xfrm>
            <a:off x="3102797" y="2622734"/>
            <a:ext cx="118900" cy="115005"/>
          </a:xfrm>
          <a:prstGeom prst="ellipse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>
              <a:defRPr sz="32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7" name="Shape 763"/>
          <p:cNvSpPr/>
          <p:nvPr/>
        </p:nvSpPr>
        <p:spPr>
          <a:xfrm>
            <a:off x="2391472" y="5365670"/>
            <a:ext cx="112256" cy="108578"/>
          </a:xfrm>
          <a:prstGeom prst="ellipse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>
              <a:defRPr sz="3200"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B5C97F0-B056-EA4D-82BA-0567071FEC6B}"/>
              </a:ext>
            </a:extLst>
          </p:cNvPr>
          <p:cNvGrpSpPr/>
          <p:nvPr/>
        </p:nvGrpSpPr>
        <p:grpSpPr>
          <a:xfrm>
            <a:off x="283893" y="1633290"/>
            <a:ext cx="3879544" cy="3899027"/>
            <a:chOff x="1485266" y="3304033"/>
            <a:chExt cx="7566432" cy="7544781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7E233E6B-B6EB-254F-814F-9450F9210979}"/>
                </a:ext>
              </a:extLst>
            </p:cNvPr>
            <p:cNvGrpSpPr/>
            <p:nvPr/>
          </p:nvGrpSpPr>
          <p:grpSpPr>
            <a:xfrm>
              <a:off x="1485266" y="3304033"/>
              <a:ext cx="7566432" cy="7544781"/>
              <a:chOff x="1485266" y="3304033"/>
              <a:chExt cx="7566432" cy="7544781"/>
            </a:xfrm>
          </p:grpSpPr>
          <p:sp>
            <p:nvSpPr>
              <p:cNvPr id="33" name="Shape 757"/>
              <p:cNvSpPr/>
              <p:nvPr/>
            </p:nvSpPr>
            <p:spPr>
              <a:xfrm rot="10800000">
                <a:off x="1485266" y="3304033"/>
                <a:ext cx="3822138" cy="754478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1" h="21583" extrusionOk="0">
                    <a:moveTo>
                      <a:pt x="94" y="0"/>
                    </a:moveTo>
                    <a:cubicBezTo>
                      <a:pt x="6171" y="-3"/>
                      <a:pt x="11590" y="1252"/>
                      <a:pt x="15468" y="3252"/>
                    </a:cubicBezTo>
                    <a:cubicBezTo>
                      <a:pt x="19329" y="5244"/>
                      <a:pt x="21600" y="7944"/>
                      <a:pt x="21591" y="10798"/>
                    </a:cubicBezTo>
                    <a:cubicBezTo>
                      <a:pt x="21582" y="13731"/>
                      <a:pt x="19279" y="16456"/>
                      <a:pt x="15231" y="18475"/>
                    </a:cubicBezTo>
                    <a:cubicBezTo>
                      <a:pt x="11319" y="20427"/>
                      <a:pt x="5944" y="21597"/>
                      <a:pt x="0" y="21583"/>
                    </a:cubicBezTo>
                  </a:path>
                </a:pathLst>
              </a:custGeom>
              <a:noFill/>
              <a:ln w="12700" cap="flat">
                <a:solidFill>
                  <a:srgbClr val="A6AAA9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3200"/>
                </a:pPr>
                <a:endParaRPr/>
              </a:p>
            </p:txBody>
          </p:sp>
          <p:sp>
            <p:nvSpPr>
              <p:cNvPr id="34" name="Shape 757">
                <a:extLst>
                  <a:ext uri="{FF2B5EF4-FFF2-40B4-BE49-F238E27FC236}">
                    <a16:creationId xmlns:a16="http://schemas.microsoft.com/office/drawing/2014/main" id="{F007AE36-ABDB-7547-A766-FA030B8D4C57}"/>
                  </a:ext>
                </a:extLst>
              </p:cNvPr>
              <p:cNvSpPr/>
              <p:nvPr/>
            </p:nvSpPr>
            <p:spPr>
              <a:xfrm rot="10800000" flipH="1">
                <a:off x="5229506" y="3304033"/>
                <a:ext cx="3822192" cy="754478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1" h="21583" extrusionOk="0">
                    <a:moveTo>
                      <a:pt x="94" y="0"/>
                    </a:moveTo>
                    <a:cubicBezTo>
                      <a:pt x="6171" y="-3"/>
                      <a:pt x="11590" y="1252"/>
                      <a:pt x="15468" y="3252"/>
                    </a:cubicBezTo>
                    <a:cubicBezTo>
                      <a:pt x="19329" y="5244"/>
                      <a:pt x="21600" y="7944"/>
                      <a:pt x="21591" y="10798"/>
                    </a:cubicBezTo>
                    <a:cubicBezTo>
                      <a:pt x="21582" y="13731"/>
                      <a:pt x="19279" y="16456"/>
                      <a:pt x="15231" y="18475"/>
                    </a:cubicBezTo>
                    <a:cubicBezTo>
                      <a:pt x="11319" y="20427"/>
                      <a:pt x="5944" y="21597"/>
                      <a:pt x="0" y="21583"/>
                    </a:cubicBezTo>
                  </a:path>
                </a:pathLst>
              </a:custGeom>
              <a:noFill/>
              <a:ln w="12700" cap="flat">
                <a:noFill/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3200"/>
                </a:pPr>
                <a:endParaRPr/>
              </a:p>
            </p:txBody>
          </p:sp>
        </p:grpSp>
        <p:sp>
          <p:nvSpPr>
            <p:cNvPr id="30" name="Shape 758"/>
            <p:cNvSpPr/>
            <p:nvPr/>
          </p:nvSpPr>
          <p:spPr>
            <a:xfrm>
              <a:off x="2757188" y="4061794"/>
              <a:ext cx="228823" cy="228823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32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1" name="Shape 762"/>
            <p:cNvSpPr/>
            <p:nvPr/>
          </p:nvSpPr>
          <p:spPr>
            <a:xfrm>
              <a:off x="2441029" y="9585141"/>
              <a:ext cx="278742" cy="278742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32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2" name="Shape 764"/>
            <p:cNvSpPr/>
            <p:nvPr/>
          </p:nvSpPr>
          <p:spPr>
            <a:xfrm>
              <a:off x="2023142" y="4526900"/>
              <a:ext cx="472360" cy="472360"/>
            </a:xfrm>
            <a:prstGeom prst="ellipse">
              <a:avLst/>
            </a:prstGeom>
            <a:solidFill>
              <a:srgbClr val="DCDEE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3200">
                  <a:solidFill>
                    <a:srgbClr val="FFFFFF"/>
                  </a:solidFill>
                </a:defRPr>
              </a:pPr>
              <a:endParaRPr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1D791E5-F4B5-F24A-93E8-17C7E2653815}"/>
              </a:ext>
            </a:extLst>
          </p:cNvPr>
          <p:cNvGrpSpPr/>
          <p:nvPr/>
        </p:nvGrpSpPr>
        <p:grpSpPr>
          <a:xfrm>
            <a:off x="536483" y="2047034"/>
            <a:ext cx="2997783" cy="3156356"/>
            <a:chOff x="2467023" y="4039751"/>
            <a:chExt cx="5878564" cy="6058857"/>
          </a:xfrm>
        </p:grpSpPr>
        <p:sp>
          <p:nvSpPr>
            <p:cNvPr id="36" name="Shape 756"/>
            <p:cNvSpPr/>
            <p:nvPr/>
          </p:nvSpPr>
          <p:spPr>
            <a:xfrm>
              <a:off x="2855065" y="4039751"/>
              <a:ext cx="5490522" cy="59274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39" h="20095" extrusionOk="0">
                  <a:moveTo>
                    <a:pt x="9820" y="0"/>
                  </a:moveTo>
                  <a:cubicBezTo>
                    <a:pt x="16530" y="21"/>
                    <a:pt x="21600" y="4838"/>
                    <a:pt x="21435" y="10254"/>
                  </a:cubicBezTo>
                  <a:cubicBezTo>
                    <a:pt x="21234" y="16876"/>
                    <a:pt x="13928" y="21600"/>
                    <a:pt x="6282" y="19653"/>
                  </a:cubicBezTo>
                  <a:cubicBezTo>
                    <a:pt x="4961" y="19317"/>
                    <a:pt x="3743" y="18711"/>
                    <a:pt x="2677" y="17962"/>
                  </a:cubicBezTo>
                  <a:cubicBezTo>
                    <a:pt x="1619" y="17218"/>
                    <a:pt x="713" y="16335"/>
                    <a:pt x="0" y="15448"/>
                  </a:cubicBezTo>
                </a:path>
              </a:pathLst>
            </a:custGeom>
            <a:noFill/>
            <a:ln w="127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3200"/>
              </a:pPr>
              <a:endParaRPr/>
            </a:p>
          </p:txBody>
        </p:sp>
        <p:sp>
          <p:nvSpPr>
            <p:cNvPr id="37" name="Shape 756">
              <a:extLst>
                <a:ext uri="{FF2B5EF4-FFF2-40B4-BE49-F238E27FC236}">
                  <a16:creationId xmlns:a16="http://schemas.microsoft.com/office/drawing/2014/main" id="{F0F319A6-AB6B-9C4B-A301-6A1DB9DBBC6C}"/>
                </a:ext>
              </a:extLst>
            </p:cNvPr>
            <p:cNvSpPr/>
            <p:nvPr/>
          </p:nvSpPr>
          <p:spPr>
            <a:xfrm rot="8814582">
              <a:off x="2467023" y="4171187"/>
              <a:ext cx="5490522" cy="59274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39" h="20095" extrusionOk="0">
                  <a:moveTo>
                    <a:pt x="9820" y="0"/>
                  </a:moveTo>
                  <a:cubicBezTo>
                    <a:pt x="16530" y="21"/>
                    <a:pt x="21600" y="4838"/>
                    <a:pt x="21435" y="10254"/>
                  </a:cubicBezTo>
                  <a:cubicBezTo>
                    <a:pt x="21234" y="16876"/>
                    <a:pt x="13928" y="21600"/>
                    <a:pt x="6282" y="19653"/>
                  </a:cubicBezTo>
                  <a:cubicBezTo>
                    <a:pt x="4961" y="19317"/>
                    <a:pt x="3743" y="18711"/>
                    <a:pt x="2677" y="17962"/>
                  </a:cubicBezTo>
                  <a:cubicBezTo>
                    <a:pt x="1619" y="17218"/>
                    <a:pt x="713" y="16335"/>
                    <a:pt x="0" y="15448"/>
                  </a:cubicBezTo>
                </a:path>
              </a:pathLst>
            </a:custGeom>
            <a:noFill/>
            <a:ln w="12700" cap="flat">
              <a:noFill/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3200"/>
              </a:pPr>
              <a:endParaRPr/>
            </a:p>
          </p:txBody>
        </p:sp>
      </p:grpSp>
      <p:pic>
        <p:nvPicPr>
          <p:cNvPr id="38" name="Picture Placeholder 7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932" y="2346937"/>
            <a:ext cx="2514454" cy="2499470"/>
          </a:xfrm>
          <a:prstGeom prst="ellipse">
            <a:avLst/>
          </a:prstGeom>
          <a:ln>
            <a:solidFill>
              <a:schemeClr val="accent1"/>
            </a:solidFill>
          </a:ln>
        </p:spPr>
      </p:pic>
      <p:sp>
        <p:nvSpPr>
          <p:cNvPr id="39" name="Shape 752"/>
          <p:cNvSpPr/>
          <p:nvPr/>
        </p:nvSpPr>
        <p:spPr>
          <a:xfrm>
            <a:off x="2960208" y="1921046"/>
            <a:ext cx="878054" cy="34114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cubicBezTo>
                  <a:pt x="13676" y="2657"/>
                  <a:pt x="21600" y="6619"/>
                  <a:pt x="21600" y="10800"/>
                </a:cubicBezTo>
                <a:cubicBezTo>
                  <a:pt x="21600" y="14981"/>
                  <a:pt x="13676" y="18943"/>
                  <a:pt x="0" y="21600"/>
                </a:cubicBezTo>
              </a:path>
            </a:pathLst>
          </a:custGeom>
          <a:ln w="12700">
            <a:solidFill>
              <a:srgbClr val="53585F"/>
            </a:solidFill>
            <a:miter lim="400000"/>
            <a:headEnd type="oval"/>
            <a:tailEnd type="oval"/>
          </a:ln>
        </p:spPr>
        <p:txBody>
          <a:bodyPr lIns="50800" tIns="50800" rIns="50800" bIns="50800" anchor="ctr"/>
          <a:lstStyle/>
          <a:p>
            <a:pPr>
              <a:defRPr sz="3200"/>
            </a:pPr>
            <a:endParaRPr/>
          </a:p>
        </p:txBody>
      </p:sp>
      <p:sp>
        <p:nvSpPr>
          <p:cNvPr id="41" name="ZoneTexte 37">
            <a:extLst>
              <a:ext uri="{FF2B5EF4-FFF2-40B4-BE49-F238E27FC236}">
                <a16:creationId xmlns:a16="http://schemas.microsoft.com/office/drawing/2014/main" id="{0A8D12CE-8D62-44F3-97D9-AC3B76030D62}"/>
              </a:ext>
            </a:extLst>
          </p:cNvPr>
          <p:cNvSpPr txBox="1"/>
          <p:nvPr/>
        </p:nvSpPr>
        <p:spPr>
          <a:xfrm>
            <a:off x="373487" y="721674"/>
            <a:ext cx="11370837" cy="3985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fr-FR" b="1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Conclusion</a:t>
            </a:r>
          </a:p>
        </p:txBody>
      </p:sp>
      <p:sp>
        <p:nvSpPr>
          <p:cNvPr id="42" name="Oval 17">
            <a:extLst>
              <a:ext uri="{FF2B5EF4-FFF2-40B4-BE49-F238E27FC236}">
                <a16:creationId xmlns:a16="http://schemas.microsoft.com/office/drawing/2014/main" id="{FDE6823B-B55F-448B-9EB6-88A502759EFC}"/>
              </a:ext>
            </a:extLst>
          </p:cNvPr>
          <p:cNvSpPr/>
          <p:nvPr/>
        </p:nvSpPr>
        <p:spPr>
          <a:xfrm>
            <a:off x="2634936" y="100514"/>
            <a:ext cx="360000" cy="36000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  <a:latin typeface="Garamond" pitchFamily="18" charset="0"/>
              </a:rPr>
              <a:t>6</a:t>
            </a:r>
            <a:endParaRPr lang="en-US" b="1" dirty="0">
              <a:solidFill>
                <a:schemeClr val="bg1"/>
              </a:solidFill>
              <a:latin typeface="Garamond" pitchFamily="18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282F12B-7520-DB5B-74CA-A4DB4ED16593}"/>
              </a:ext>
            </a:extLst>
          </p:cNvPr>
          <p:cNvSpPr txBox="1"/>
          <p:nvPr/>
        </p:nvSpPr>
        <p:spPr>
          <a:xfrm>
            <a:off x="4936073" y="2472618"/>
            <a:ext cx="585270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fr-FR" dirty="0"/>
              <a:t>Système ADAS complet développé, testé et validé fiabilité avec latence acceptable.</a:t>
            </a:r>
          </a:p>
          <a:p>
            <a:pPr algn="just">
              <a:buNone/>
            </a:pPr>
            <a:r>
              <a:rPr lang="fr-FR" dirty="0"/>
              <a:t>AMÉLIORATIONS FUTURES :</a:t>
            </a:r>
          </a:p>
          <a:p>
            <a:pPr algn="just">
              <a:buNone/>
            </a:pPr>
            <a:r>
              <a:rPr lang="fr-FR" dirty="0"/>
              <a:t>Intelligence artificielle (ML), radar complémentaire, connectivité 5G.</a:t>
            </a:r>
          </a:p>
          <a:p>
            <a:pPr algn="just">
              <a:buNone/>
            </a:pPr>
            <a:r>
              <a:rPr lang="fr-FR" dirty="0"/>
              <a:t>OBJECTIF FINAL :</a:t>
            </a:r>
          </a:p>
          <a:p>
            <a:pPr algn="just">
              <a:buNone/>
            </a:pPr>
            <a:r>
              <a:rPr lang="fr-FR" dirty="0"/>
              <a:t>Réduire les accidents en angles morts au Maroc de 40% en 2 ans via système ADAS abordable et modulable.</a:t>
            </a:r>
          </a:p>
        </p:txBody>
      </p:sp>
    </p:spTree>
    <p:extLst>
      <p:ext uri="{BB962C8B-B14F-4D97-AF65-F5344CB8AC3E}">
        <p14:creationId xmlns:p14="http://schemas.microsoft.com/office/powerpoint/2010/main" val="1429528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8" presetClass="emph" presetSubtype="0" repeatCount="4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5" dur="3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" presetClass="path" presetSubtype="0" repeatCount="4000" fill="hold" grpId="1" nodeType="withEffect">
                                  <p:stCondLst>
                                    <p:cond delay="4000"/>
                                  </p:stCondLst>
                                  <p:childTnLst>
                                    <p:animMotion origin="layout" path="M -0.00026 0.00856 C -0.00912 -0.09097 0.02917 -0.18403 0.0849 -0.19931 C 0.14036 -0.21528 0.19219 -0.14676 0.20182 -0.04815 C 0.21068 0.05139 0.17266 0.14537 0.11706 0.16042 C 0.0612 0.17616 0.00846 0.1081 -0.00026 0.00856 Z " pathEditMode="relative" rAng="4860000" ptsTypes="AAAAA">
                                      <p:cBhvr>
                                        <p:cTn id="24" dur="2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104" y="-2824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8" presetClass="emph" presetSubtype="0" repeatCount="3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Rot by="-21600000">
                                      <p:cBhvr>
                                        <p:cTn id="29" dur="2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" presetClass="path" presetSubtype="0" repeatCount="200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8646 -0.09652 C 0.14896 -0.14421 0.17891 -0.27106 0.15274 -0.38032 C 0.12682 -0.48726 0.05456 -0.53958 -0.00807 -0.49213 C -0.07148 -0.4449 -0.10039 -0.31689 -0.07487 -0.20856 C -0.0487 -0.09884 0.02344 -0.04838 0.08646 -0.09652 Z " pathEditMode="relative" rAng="20220000" ptsTypes="AAAAA">
                                      <p:cBhvr>
                                        <p:cTn id="34" dur="4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753" y="-19769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" presetClass="path" presetSubtype="0" repeatCount="200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0.01263 -0.01157 C -0.06731 0.05903 -0.14375 0.03866 -0.18307 -0.05764 C -0.22226 -0.15347 -0.2095 -0.28912 -0.15494 -0.35972 C -0.10039 -0.43079 -0.02369 -0.40995 0.01537 -0.31389 C 0.05482 -0.21782 0.04206 -0.08217 -0.01263 -0.01157 Z " pathEditMode="relative" rAng="8640000" ptsTypes="AAAAA">
                                      <p:cBhvr>
                                        <p:cTn id="39" dur="5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109" y="-17407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-4.07407E-6 C 0.00247 0.01829 0.00482 0.03681 0.00521 0.05556 C 0.00547 0.07431 0.0043 0.09514 0.00208 0.11297 C -0.00026 0.13079 -0.00378 0.14537 -0.00834 0.16297 C -0.01289 0.18056 -0.02005 0.20463 -0.025 0.21852 C -0.03008 0.23241 -0.03438 0.23936 -0.03854 0.2463 " pathEditMode="relative" rAng="0" ptsTypes="AAAAAA">
                                      <p:cBhvr>
                                        <p:cTn id="44" dur="3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67" y="12315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8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4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39" grpId="0" animBg="1"/>
      <p:bldP spid="4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Custom 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FC000"/>
      </a:accent1>
      <a:accent2>
        <a:srgbClr val="4472C4"/>
      </a:accent2>
      <a:accent3>
        <a:srgbClr val="A5A5A5"/>
      </a:accent3>
      <a:accent4>
        <a:srgbClr val="D9E2F3"/>
      </a:accent4>
      <a:accent5>
        <a:srgbClr val="5B9BD5"/>
      </a:accent5>
      <a:accent6>
        <a:srgbClr val="7F7F7F"/>
      </a:accent6>
      <a:hlink>
        <a:srgbClr val="0563C1"/>
      </a:hlink>
      <a:folHlink>
        <a:srgbClr val="DE7474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54CE8AC-6607-4759-B2D8-8164BF35E282}">
  <we:reference id="wa104381063" version="1.0.0.1" store="fr-FR" storeType="OMEX"/>
  <we:alternateReferences>
    <we:reference id="wa104381063" version="1.0.0.1" store="wa104381063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552D23AC5A0C54C8DD3BCDD87109991" ma:contentTypeVersion="8" ma:contentTypeDescription="Crée un document." ma:contentTypeScope="" ma:versionID="257ee6653f3ba87a47f9b49b5a05c736">
  <xsd:schema xmlns:xsd="http://www.w3.org/2001/XMLSchema" xmlns:xs="http://www.w3.org/2001/XMLSchema" xmlns:p="http://schemas.microsoft.com/office/2006/metadata/properties" xmlns:ns3="bf1ff893-4ecd-495f-8143-2b38f6398cd0" targetNamespace="http://schemas.microsoft.com/office/2006/metadata/properties" ma:root="true" ma:fieldsID="9508299a7361736ea7aee327260786ed" ns3:_="">
    <xsd:import namespace="bf1ff893-4ecd-495f-8143-2b38f6398cd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_activity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1ff893-4ecd-495f-8143-2b38f6398cd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f1ff893-4ecd-495f-8143-2b38f6398cd0" xsi:nil="true"/>
  </documentManagement>
</p:properties>
</file>

<file path=customXml/itemProps1.xml><?xml version="1.0" encoding="utf-8"?>
<ds:datastoreItem xmlns:ds="http://schemas.openxmlformats.org/officeDocument/2006/customXml" ds:itemID="{A61E9694-3A91-4E23-9325-CEAE930FB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f1ff893-4ecd-495f-8143-2b38f6398cd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631E92E-9FAE-4F9C-BD6C-38E9740521A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F3147AA-3DAB-496C-9C64-D1544142B6E0}">
  <ds:schemaRefs>
    <ds:schemaRef ds:uri="http://purl.org/dc/dcmitype/"/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bf1ff893-4ecd-495f-8143-2b38f6398cd0"/>
    <ds:schemaRef ds:uri="http://www.w3.org/XML/1998/namespace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30792</TotalTime>
  <Words>1352</Words>
  <Application>Microsoft Office PowerPoint</Application>
  <PresentationFormat>Grand écran</PresentationFormat>
  <Paragraphs>324</Paragraphs>
  <Slides>18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8" baseType="lpstr">
      <vt:lpstr>Arial</vt:lpstr>
      <vt:lpstr>Calibri</vt:lpstr>
      <vt:lpstr>Calibri Light</vt:lpstr>
      <vt:lpstr>Century Schoolbook</vt:lpstr>
      <vt:lpstr>Copperplate</vt:lpstr>
      <vt:lpstr>Garamond</vt:lpstr>
      <vt:lpstr>Palatino Linotype</vt:lpstr>
      <vt:lpstr>Source Sans Pro</vt:lpstr>
      <vt:lpstr>Times New Roman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bz</dc:creator>
  <cp:lastModifiedBy>BITTA Anas</cp:lastModifiedBy>
  <cp:revision>481</cp:revision>
  <dcterms:created xsi:type="dcterms:W3CDTF">2019-06-25T09:45:37Z</dcterms:created>
  <dcterms:modified xsi:type="dcterms:W3CDTF">2026-01-21T22:07:40Z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0x010100C552D23AC5A0C54C8DD3BCDD87109991</vt:lpwstr>
  </property>
</Properties>
</file>